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ha8A3riK/OtQBHkUZmE1aHYqXr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Play-regular.fntdata"/><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20c779728fdc65f1_2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h20c779728fdc65f1_2_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Välkomna allihop!</a:t>
            </a:r>
            <a:endParaRPr/>
          </a:p>
          <a:p>
            <a:pPr indent="0" lvl="0" marL="0" marR="0" rtl="0" algn="l">
              <a:lnSpc>
                <a:spcPct val="100000"/>
              </a:lnSpc>
              <a:spcBef>
                <a:spcPts val="0"/>
              </a:spcBef>
              <a:spcAft>
                <a:spcPts val="0"/>
              </a:spcAft>
              <a:buClr>
                <a:schemeClr val="dk1"/>
              </a:buClr>
              <a:buSzPts val="1200"/>
              <a:buFont typeface="Arial"/>
              <a:buNone/>
            </a:pPr>
            <a:r>
              <a:rPr lang="sv-SE"/>
              <a:t>Tänk er att ni ska söka jobb inom Data och IT. Vilka kompetenser ska ni satsa på för att vara attraktiva på arbetsmarknaden? Det var utgångspunkten för vårt projekt: att undersöka vad arbetsgivarna faktiskt efterfrågar.</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Med det i åtanke skapade vi det här projektet: Kompetenstrender inom svensk IT, där vi använder </a:t>
            </a:r>
            <a:r>
              <a:rPr b="0" lang="sv-SE" sz="1200" u="none" strike="noStrike">
                <a:solidFill>
                  <a:schemeClr val="dk1"/>
                </a:solidFill>
                <a:latin typeface="Arial"/>
                <a:ea typeface="Arial"/>
                <a:cs typeface="Arial"/>
                <a:sym typeface="Arial"/>
              </a:rPr>
              <a:t>neurolingvistisk programmering eller</a:t>
            </a:r>
            <a:r>
              <a:rPr lang="sv-SE"/>
              <a:t> NLP för att analysera jobbannonser från 2025 till 2026.</a:t>
            </a:r>
            <a:endParaRPr/>
          </a:p>
        </p:txBody>
      </p:sp>
      <p:sp>
        <p:nvSpPr>
          <p:cNvPr id="158" name="Google Shape;158;h20c779728fdc65f1_2_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20c779728fdc65f1_2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h20c779728fdc65f1_2_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Jobbannonser innehåller mängder av information, men det är svårt att se de större mönstren när man tittar på en annons i taget. Vi använder därför NLP/</a:t>
            </a:r>
            <a:r>
              <a:rPr lang="sv-SE" sz="1200">
                <a:solidFill>
                  <a:schemeClr val="dk1"/>
                </a:solidFill>
              </a:rPr>
              <a:t>neurolingvistisk programmering</a:t>
            </a:r>
            <a:r>
              <a:rPr lang="sv-SE"/>
              <a:t>, alltså textanalys, för att identifiera vilka kompetenser som återkommer.</a:t>
            </a:r>
            <a:endParaRPr/>
          </a:p>
          <a:p>
            <a:pPr indent="0" lvl="0" marL="0" rtl="0" algn="l">
              <a:spcBef>
                <a:spcPts val="0"/>
              </a:spcBef>
              <a:spcAft>
                <a:spcPts val="0"/>
              </a:spcAft>
              <a:buNone/>
            </a:pPr>
            <a:r>
              <a:rPr lang="sv-SE"/>
              <a:t>Vi undersöker hur efterfrågan förändras månadsvis och om det finns regionala skillnader. För att göra projektet hanterbart har vi avgränsat oss till svenska annonser inom SSYK-grupp 2511, som bland annat omfattar data scientists, systemanalytiker och IT-arkitekter. Resultatet riktar sig framför allt till arbetssökande inom Data och IT.</a:t>
            </a:r>
            <a:endParaRPr/>
          </a:p>
          <a:p>
            <a:pPr indent="0" lvl="0" marL="0" rtl="0" algn="l">
              <a:spcBef>
                <a:spcPts val="0"/>
              </a:spcBef>
              <a:spcAft>
                <a:spcPts val="0"/>
              </a:spcAft>
              <a:buNone/>
            </a:pPr>
            <a:r>
              <a:t/>
            </a:r>
            <a:endParaRPr/>
          </a:p>
        </p:txBody>
      </p:sp>
      <p:sp>
        <p:nvSpPr>
          <p:cNvPr id="176" name="Google Shape;176;h20c779728fdc65f1_2_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20c779728fdc65f1_2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h20c779728fdc65f1_2_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Men var hittar vi underlaget för att undersöka det här? Vi använder historiska jobbannonser från Platsbanken, som vi hämtar via Arbetsförmedlingens JobTech API. En fördel är att vi även kan komma åt annonser som inte längre är aktiva.</a:t>
            </a:r>
            <a:endParaRPr/>
          </a:p>
          <a:p>
            <a:pPr indent="0" lvl="0" marL="0" rtl="0" algn="l">
              <a:spcBef>
                <a:spcPts val="0"/>
              </a:spcBef>
              <a:spcAft>
                <a:spcPts val="0"/>
              </a:spcAft>
              <a:buNone/>
            </a:pPr>
            <a:r>
              <a:rPr lang="sv-SE"/>
              <a:t>Vi har avgränsat studien till perioden januari 2025 till augusti 2026 och förberett materialet för att kunna jämföra annonser över tid.</a:t>
            </a:r>
            <a:endParaRPr/>
          </a:p>
          <a:p>
            <a:pPr indent="0" lvl="0" marL="0" rtl="0" algn="l">
              <a:spcBef>
                <a:spcPts val="0"/>
              </a:spcBef>
              <a:spcAft>
                <a:spcPts val="0"/>
              </a:spcAft>
              <a:buNone/>
            </a:pPr>
            <a:r>
              <a:t/>
            </a:r>
            <a:endParaRPr/>
          </a:p>
        </p:txBody>
      </p:sp>
      <p:sp>
        <p:nvSpPr>
          <p:cNvPr id="200" name="Google Shape;200;h20c779728fdc65f1_2_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20c779728fdc65f1_2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h20c779728fdc65f1_2_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Men data berättar inte alltid hela sanningen. Samma annons kan publiceras flera gånger, kategorier kan vara ofullständiga och fritext kan innehålla personuppgifter. Vi har därför granskat materialet, hanterat personuppgifter och fokuserat på relevanta uppgifter.</a:t>
            </a:r>
            <a:endParaRPr/>
          </a:p>
          <a:p>
            <a:pPr indent="0" lvl="0" marL="0" rtl="0" algn="l">
              <a:spcBef>
                <a:spcPts val="0"/>
              </a:spcBef>
              <a:spcAft>
                <a:spcPts val="0"/>
              </a:spcAft>
              <a:buNone/>
            </a:pPr>
            <a:r>
              <a:rPr lang="sv-SE"/>
              <a:t>Det finns också en viktig begränsning i jämförelsen mellan åren: vissa annonser från 2026 kan fortfarande vara aktiva och ännu inte finnas i det historiska API. Därför kan de senare månaderna innehålla färre annonser än 2025.</a:t>
            </a:r>
            <a:endParaRPr/>
          </a:p>
          <a:p>
            <a:pPr indent="0" lvl="0" marL="0" rtl="0" algn="l">
              <a:spcBef>
                <a:spcPts val="0"/>
              </a:spcBef>
              <a:spcAft>
                <a:spcPts val="0"/>
              </a:spcAft>
              <a:buNone/>
            </a:pPr>
            <a:r>
              <a:rPr lang="sv-SE"/>
              <a:t>Det betyder att vi inte bara behöver titta på vad analysen visar – vi måste också förstå vad datan kan och inte kan säga oss.</a:t>
            </a:r>
            <a:endParaRPr/>
          </a:p>
          <a:p>
            <a:pPr indent="0" lvl="0" marL="0" rtl="0" algn="l">
              <a:spcBef>
                <a:spcPts val="0"/>
              </a:spcBef>
              <a:spcAft>
                <a:spcPts val="0"/>
              </a:spcAft>
              <a:buNone/>
            </a:pPr>
            <a:r>
              <a:t/>
            </a:r>
            <a:endParaRPr/>
          </a:p>
        </p:txBody>
      </p:sp>
      <p:sp>
        <p:nvSpPr>
          <p:cNvPr id="231" name="Google Shape;231;h20c779728fdc65f1_2_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5350e777929d30a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h5350e777929d30a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När vi hade förberett datan behövde vi bestämma hur vi faktiskt skulle hitta kompetenserna i jobbannonsernas fritext.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Vi började därför med en enkel baseline. Den utgår från Arbetsförmedlingens taxonomi och söker efter kompetensnamnen direkt i annonstexten. Tanken med baseline var framför allt att få en enkel referenspunkt som vi sedan kunde jämföra en förbättrad metod mot.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Men vi märkte ganska snabbt en begränsning. Arbetsgivare skriver inte alltid samma kompetens på exakt samma sätt. En kompetens kan skrivas med ett fullständigt namn, en förkortning, på engelska eller med ett annat vanligt skrivsätt.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Därför valde vi att även använda spaCy med EntityRuler. Där kunde vi lägga till egna regler, synonymer och alternativa skrivsätt och sedan koppla dem till samma kompetens. Till exempel kan flera olika sätt att skriva en kompetens normaliseras till ett gemensamt namn.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Det här passade bra i vårt projekt eftersom vi redan hade en taxonomi att utgå ifrån, men behövde göra den mer flexibel för hur kompetenser faktiskt skrivs i jobbannonser. En annan fördel är att metoden är transparent – vi kan se vilken regel som gjorde att en viss kompetens hittades.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Så frågan vi ville besvara var egentligen: ger de utökade reglerna bättre täckning än vår enkla baseline?</a:t>
            </a:r>
            <a:endParaRPr>
              <a:solidFill>
                <a:schemeClr val="dk1"/>
              </a:solidFill>
            </a:endParaRPr>
          </a:p>
          <a:p>
            <a:pPr indent="0" lvl="0" marL="0" rtl="0" algn="l">
              <a:lnSpc>
                <a:spcPct val="115000"/>
              </a:lnSpc>
              <a:spcBef>
                <a:spcPts val="1200"/>
              </a:spcBef>
              <a:spcAft>
                <a:spcPts val="0"/>
              </a:spcAft>
              <a:buSzPts val="1100"/>
              <a:buNone/>
            </a:pPr>
            <a:r>
              <a:rPr lang="sv-SE">
                <a:solidFill>
                  <a:schemeClr val="dk1"/>
                </a:solidFill>
              </a:rPr>
              <a:t>Och det är precis det vi sedan utvärderade, vilket Magdalena kommer att visa i nästa del.</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rPr b="1" lang="sv-SE">
                <a:solidFill>
                  <a:schemeClr val="dk1"/>
                </a:solidFill>
              </a:rPr>
              <a:t>Vilken baseline?</a:t>
            </a:r>
            <a:r>
              <a:rPr lang="sv-SE">
                <a:solidFill>
                  <a:schemeClr val="dk1"/>
                </a:solidFill>
              </a:rPr>
              <a:t> Taxonomibaserad direkt matchning.</a:t>
            </a:r>
            <a:endParaRPr>
              <a:solidFill>
                <a:schemeClr val="dk1"/>
              </a:solidFill>
            </a:endParaRPr>
          </a:p>
          <a:p>
            <a:pPr indent="0" lvl="0" marL="0" rtl="0" algn="l">
              <a:lnSpc>
                <a:spcPct val="115000"/>
              </a:lnSpc>
              <a:spcBef>
                <a:spcPts val="1200"/>
              </a:spcBef>
              <a:spcAft>
                <a:spcPts val="0"/>
              </a:spcAft>
              <a:buSzPts val="1100"/>
              <a:buNone/>
            </a:pPr>
            <a:r>
              <a:rPr b="1" lang="sv-SE">
                <a:solidFill>
                  <a:schemeClr val="dk1"/>
                </a:solidFill>
              </a:rPr>
              <a:t>Vad jämförde vi med?</a:t>
            </a:r>
            <a:r>
              <a:rPr lang="sv-SE">
                <a:solidFill>
                  <a:schemeClr val="dk1"/>
                </a:solidFill>
              </a:rPr>
              <a:t> spaCy + EntityRuler.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sv-SE">
                <a:solidFill>
                  <a:schemeClr val="dk1"/>
                </a:solidFill>
              </a:rPr>
              <a:t>Varför?</a:t>
            </a:r>
            <a:r>
              <a:rPr lang="sv-SE">
                <a:solidFill>
                  <a:schemeClr val="dk1"/>
                </a:solidFill>
              </a:rPr>
              <a:t> Jobbannonser använder förkortningar, synonymer och olika skrivsätt, och vi ville samtidigt ha en transparent regelbaserad metod.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56" name="Google Shape;256;h5350e777929d30a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426f5add61499a6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h426f5add61499a6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1" name="Google Shape;281;h426f5add61499a6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66a306fed6536801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h66a306fed6536801_1_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h66a306fed6536801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h66a306fed6536801_1_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1601bb5a7bb59382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h1601bb5a7bb59382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sv-SE">
                <a:solidFill>
                  <a:schemeClr val="dk1"/>
                </a:solidFill>
              </a:rPr>
              <a:t>Rekommendation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Vi rekommenderar EntityRuler med våra egna regler. Den hittade betydligt fler av de annoterade kompetenserna än baseline under utvärderingen. Baseline hade dock högre precision, men missade helt enkelt för mycket.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sv-SE">
                <a:solidFill>
                  <a:schemeClr val="dk1"/>
                </a:solidFill>
              </a:rPr>
              <a:t>Viktigaste begränsningar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Trots lovande resultat vill vi lyfta några begränsningar i vår analys.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För det första datan. Vi analyserade bara Platsbankens annonser, bara systemanalytiker och IT arkitekter, SSYK 2511, och bara januari till augusti i båda åren. 36 procent av annonserna var på engelska och uteslöts, så företag som valt att skriva annonser på engelska, tex internationella bolag eller företag som vill främja inkludering, är underrepresenterade.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För det andra metoden. EntityRuler hittar bara det som står i reglerna, och 116 av våra 290 kompetenser matchade aldrig. Utöver det så förstår metoden inte sammanhang, så ett omnämnande räknas även när det inte är ett krav, vi nämde detta innan, där rollen Scrum Master identifierats som en kompetens.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För det tredje facit. Det är gjort av en person på 192 annonser, så det kan vara ofullständigt, och recall på övriga annonser är okänd för oss.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För det fjärde urvalet av kompetenser. Vi fokuserade på tekniska kompetenser och uteslöt mjuka kompetenser. Att inkludera mjuka kompetenser hade kunnat ge en bredare bild.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sv-SE">
                <a:solidFill>
                  <a:schemeClr val="dk1"/>
                </a:solidFill>
              </a:rPr>
              <a:t>När resultatet inte bör användas </a:t>
            </a:r>
            <a:endParaRPr b="1">
              <a:solidFill>
                <a:schemeClr val="dk1"/>
              </a:solidFill>
            </a:endParaRPr>
          </a:p>
          <a:p>
            <a:pPr indent="0" lvl="0" marL="0" rtl="0" algn="l">
              <a:lnSpc>
                <a:spcPct val="115000"/>
              </a:lnSpc>
              <a:spcBef>
                <a:spcPts val="1200"/>
              </a:spcBef>
              <a:spcAft>
                <a:spcPts val="0"/>
              </a:spcAft>
              <a:buSzPts val="1100"/>
              <a:buNone/>
            </a:pPr>
            <a:r>
              <a:rPr lang="sv-SE" sz="1200">
                <a:solidFill>
                  <a:schemeClr val="dk1"/>
                </a:solidFill>
                <a:highlight>
                  <a:srgbClr val="FFFFFF"/>
                </a:highlight>
              </a:rPr>
              <a:t>I nuläget fungerar</a:t>
            </a:r>
            <a:r>
              <a:rPr lang="sv-SE" sz="1200">
                <a:solidFill>
                  <a:schemeClr val="dk1"/>
                </a:solidFill>
                <a:highlight>
                  <a:srgbClr val="FFFFFF"/>
                </a:highlight>
              </a:rPr>
              <a:t> metoden främst som ett verktyg för att utforska kompetenstrender och skapa underlag för vidare analys. Det är viktigt att komma ihåg att </a:t>
            </a:r>
            <a:r>
              <a:rPr lang="sv-SE">
                <a:solidFill>
                  <a:schemeClr val="dk1"/>
                </a:solidFill>
              </a:rPr>
              <a:t>r</a:t>
            </a:r>
            <a:r>
              <a:rPr lang="sv-SE">
                <a:solidFill>
                  <a:schemeClr val="dk1"/>
                </a:solidFill>
              </a:rPr>
              <a:t>esultatet inte ska användas som en bild av hela IT marknaden eller hela svenska arbetsmarknaden. Det ska inte heller användas för att säga att något är ett krav, eftersom vi mäter vad som nämns. En kompetens som saknas i vår lista syns inte, så frånvaro betyder inte att den inte efterfrågas. Och små skillnader mellan 2025 och 2026 ska tolkas försiktigt, eftersom testsetet är litet.</a:t>
            </a:r>
            <a:endParaRPr>
              <a:solidFill>
                <a:schemeClr val="dk1"/>
              </a:solidFill>
            </a:endParaRPr>
          </a:p>
          <a:p>
            <a:pPr indent="0" lvl="0" marL="0" rtl="0" algn="l">
              <a:lnSpc>
                <a:spcPct val="115000"/>
              </a:lnSpc>
              <a:spcBef>
                <a:spcPts val="1200"/>
              </a:spcBef>
              <a:spcAft>
                <a:spcPts val="0"/>
              </a:spcAft>
              <a:buSzPts val="1100"/>
              <a:buNone/>
            </a:pPr>
            <a:r>
              <a:rPr b="1" lang="sv-SE">
                <a:solidFill>
                  <a:schemeClr val="dk1"/>
                </a:solidFill>
              </a:rPr>
              <a:t>Nästa steg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sv-SE">
                <a:solidFill>
                  <a:schemeClr val="dk1"/>
                </a:solidFill>
              </a:rPr>
              <a:t>Om projektet fortsatte skulle vi först förbättra mätningen: ett nytt testset som inte har använts när reglerna skrevs, som annoteras av flera personer, så att vi vet hur bra metoden verkligen är. Sedan skulle vi utveckla reglerna och bla lägga till regler för sammanhang, så att vi skiljer ett kompetens från ett omnämnande (Scrum Master exemplet). Därefter kan vi bredda med engelska annonser, mjuka kompetenser och fler yrkesgrupper. Då blir resultatet ett bättre underlag för arbetssökande inom IT. </a:t>
            </a:r>
            <a:endParaRPr b="1">
              <a:solidFill>
                <a:schemeClr val="dk1"/>
              </a:solidFill>
            </a:endParaRPr>
          </a:p>
          <a:p>
            <a:pPr indent="0" lvl="0" marL="0" rtl="0" algn="l">
              <a:spcBef>
                <a:spcPts val="1200"/>
              </a:spcBef>
              <a:spcAft>
                <a:spcPts val="0"/>
              </a:spcAft>
              <a:buNone/>
            </a:pPr>
            <a:r>
              <a:t/>
            </a:r>
            <a:endParaRPr/>
          </a:p>
        </p:txBody>
      </p:sp>
      <p:sp>
        <p:nvSpPr>
          <p:cNvPr id="361" name="Google Shape;361;h1601bb5a7bb59382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 name="Shape 17"/>
        <p:cNvGrpSpPr/>
        <p:nvPr/>
      </p:nvGrpSpPr>
      <p:grpSpPr>
        <a:xfrm>
          <a:off x="0" y="0"/>
          <a:ext cx="0" cy="0"/>
          <a:chOff x="0" y="0"/>
          <a:chExt cx="0" cy="0"/>
        </a:xfrm>
      </p:grpSpPr>
      <p:sp>
        <p:nvSpPr>
          <p:cNvPr id="18" name="Google Shape;18;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 name="Google Shape;20;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 name="Google Shape;22;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20c779728fdc65f1_2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20c779728fdc65f1_2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20c779728fdc65f1_2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20c779728fdc65f1_2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20c779728fdc65f1_2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20c779728fdc65f1_2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20c779728fdc65f1_2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20c779728fdc65f1_2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20c779728fdc65f1_2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20c779728fdc65f1_2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20c779728fdc65f1_2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20c779728fdc65f1_2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20c779728fdc65f1_2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20c779728fdc65f1_2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20c779728fdc65f1_2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20c779728fdc65f1_2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20c779728fdc65f1_2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20c779728fdc65f1_2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20c779728fdc65f1_2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20c779728fdc65f1_2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20c779728fdc65f1_2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20c779728fdc65f1_2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20c779728fdc65f1_2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20c779728fdc65f1_2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20c779728fdc65f1_2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20c779728fdc65f1_2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20c779728fdc65f1_2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20c779728fdc65f1_2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20c779728fdc65f1_2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20c779728fdc65f1_2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20c779728fdc65f1_2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20c779728fdc65f1_2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20c779728fdc65f1_2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20c779728fdc65f1_2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20c779728fdc65f1_2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20c779728fdc65f1_2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20c779728fdc65f1_2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20c779728fdc65f1_2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20c779728fdc65f1_2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20c779728fdc65f1_2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20c779728fdc65f1_2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20c779728fdc65f1_2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20c779728fdc65f1_2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20c779728fdc65f1_2_56"/>
          <p:cNvSpPr/>
          <p:nvPr>
            <p:ph idx="2" type="pic"/>
          </p:nvPr>
        </p:nvSpPr>
        <p:spPr>
          <a:xfrm>
            <a:off x="1792288" y="612775"/>
            <a:ext cx="5486400" cy="4114800"/>
          </a:xfrm>
          <a:prstGeom prst="rect">
            <a:avLst/>
          </a:prstGeom>
          <a:noFill/>
          <a:ln>
            <a:noFill/>
          </a:ln>
        </p:spPr>
      </p:sp>
      <p:sp>
        <p:nvSpPr>
          <p:cNvPr id="139" name="Google Shape;139;h20c779728fdc65f1_2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20c779728fdc65f1_2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20c779728fdc65f1_2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20c779728fdc65f1_2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20c779728fdc65f1_2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20c779728fdc65f1_2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20c779728fdc65f1_2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20c779728fdc65f1_2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20c779728fdc65f1_2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20c779728fdc65f1_2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20c779728fdc65f1_2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20c779728fdc65f1_2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20c779728fdc65f1_2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20c779728fdc65f1_2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20c779728fdc65f1_2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20c779728fdc65f1_2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h20c779728fdc65f1_2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h20c779728fdc65f1_2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h20c779728fdc65f1_2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v-SE"/>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43B"/>
        </a:solidFill>
      </p:bgPr>
    </p:bg>
    <p:spTree>
      <p:nvGrpSpPr>
        <p:cNvPr id="159" name="Shape 159"/>
        <p:cNvGrpSpPr/>
        <p:nvPr/>
      </p:nvGrpSpPr>
      <p:grpSpPr>
        <a:xfrm>
          <a:off x="0" y="0"/>
          <a:ext cx="0" cy="0"/>
          <a:chOff x="0" y="0"/>
          <a:chExt cx="0" cy="0"/>
        </a:xfrm>
      </p:grpSpPr>
      <p:sp>
        <p:nvSpPr>
          <p:cNvPr id="160" name="Google Shape;160;h20c779728fdc65f1_2_75"/>
          <p:cNvSpPr/>
          <p:nvPr/>
        </p:nvSpPr>
        <p:spPr>
          <a:xfrm>
            <a:off x="8961120" y="0"/>
            <a:ext cx="3291840" cy="146304"/>
          </a:xfrm>
          <a:prstGeom prst="rect">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1" name="Google Shape;161;h20c779728fdc65f1_2_75"/>
          <p:cNvSpPr/>
          <p:nvPr/>
        </p:nvSpPr>
        <p:spPr>
          <a:xfrm>
            <a:off x="9692640" y="146304"/>
            <a:ext cx="2468880" cy="146304"/>
          </a:xfrm>
          <a:prstGeom prst="rect">
            <a:avLst/>
          </a:prstGeom>
          <a:solidFill>
            <a:srgbClr val="36639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2" name="Google Shape;162;h20c779728fdc65f1_2_75"/>
          <p:cNvSpPr/>
          <p:nvPr/>
        </p:nvSpPr>
        <p:spPr>
          <a:xfrm>
            <a:off x="10424160" y="292608"/>
            <a:ext cx="1737360" cy="146304"/>
          </a:xfrm>
          <a:prstGeom prst="rect">
            <a:avLst/>
          </a:prstGeom>
          <a:solidFill>
            <a:srgbClr val="F4B83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3" name="Google Shape;163;h20c779728fdc65f1_2_75"/>
          <p:cNvSpPr txBox="1"/>
          <p:nvPr/>
        </p:nvSpPr>
        <p:spPr>
          <a:xfrm>
            <a:off x="822960" y="1078992"/>
            <a:ext cx="10424160" cy="2743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200" u="none" cap="none" strike="noStrike">
                <a:solidFill>
                  <a:srgbClr val="F4B83F"/>
                </a:solidFill>
                <a:latin typeface="Arial"/>
                <a:ea typeface="Arial"/>
                <a:cs typeface="Arial"/>
                <a:sym typeface="Arial"/>
              </a:rPr>
              <a:t>DATA SCIENCE • NATURAL LANGUAGE PROCESSING</a:t>
            </a:r>
            <a:endParaRPr/>
          </a:p>
        </p:txBody>
      </p:sp>
      <p:sp>
        <p:nvSpPr>
          <p:cNvPr id="164" name="Google Shape;164;h20c779728fdc65f1_2_75"/>
          <p:cNvSpPr txBox="1"/>
          <p:nvPr/>
        </p:nvSpPr>
        <p:spPr>
          <a:xfrm>
            <a:off x="822960" y="1691640"/>
            <a:ext cx="10607040" cy="8229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3400" u="none" cap="none" strike="noStrike">
                <a:solidFill>
                  <a:srgbClr val="FFFFFF"/>
                </a:solidFill>
                <a:latin typeface="Arial"/>
                <a:ea typeface="Arial"/>
                <a:cs typeface="Arial"/>
                <a:sym typeface="Arial"/>
              </a:rPr>
              <a:t>Kompetenstrender inom svensk IT</a:t>
            </a:r>
            <a:endParaRPr/>
          </a:p>
        </p:txBody>
      </p:sp>
      <p:sp>
        <p:nvSpPr>
          <p:cNvPr id="165" name="Google Shape;165;h20c779728fdc65f1_2_75"/>
          <p:cNvSpPr txBox="1"/>
          <p:nvPr/>
        </p:nvSpPr>
        <p:spPr>
          <a:xfrm>
            <a:off x="859536" y="2615184"/>
            <a:ext cx="1033272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2200" u="none" cap="none" strike="noStrike">
                <a:solidFill>
                  <a:srgbClr val="D7E3EF"/>
                </a:solidFill>
                <a:latin typeface="Arial"/>
                <a:ea typeface="Arial"/>
                <a:cs typeface="Arial"/>
                <a:sym typeface="Arial"/>
              </a:rPr>
              <a:t>En NLP-analys av jobbannonser 2025–2026</a:t>
            </a:r>
            <a:endParaRPr/>
          </a:p>
        </p:txBody>
      </p:sp>
      <p:sp>
        <p:nvSpPr>
          <p:cNvPr id="166" name="Google Shape;166;h20c779728fdc65f1_2_75"/>
          <p:cNvSpPr/>
          <p:nvPr/>
        </p:nvSpPr>
        <p:spPr>
          <a:xfrm>
            <a:off x="8229600" y="4297680"/>
            <a:ext cx="256032" cy="640080"/>
          </a:xfrm>
          <a:prstGeom prst="roundRect">
            <a:avLst>
              <a:gd fmla="val 16667" name="adj"/>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h20c779728fdc65f1_2_75"/>
          <p:cNvSpPr/>
          <p:nvPr/>
        </p:nvSpPr>
        <p:spPr>
          <a:xfrm>
            <a:off x="8741664" y="3886200"/>
            <a:ext cx="256032" cy="1051560"/>
          </a:xfrm>
          <a:prstGeom prst="roundRect">
            <a:avLst>
              <a:gd fmla="val 16667" name="adj"/>
            </a:avLst>
          </a:prstGeom>
          <a:solidFill>
            <a:srgbClr val="36639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h20c779728fdc65f1_2_75"/>
          <p:cNvSpPr/>
          <p:nvPr/>
        </p:nvSpPr>
        <p:spPr>
          <a:xfrm>
            <a:off x="9253728" y="4114800"/>
            <a:ext cx="256032" cy="822960"/>
          </a:xfrm>
          <a:prstGeom prst="roundRect">
            <a:avLst>
              <a:gd fmla="val 16667" name="adj"/>
            </a:avLst>
          </a:prstGeom>
          <a:solidFill>
            <a:srgbClr val="F4B83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h20c779728fdc65f1_2_75"/>
          <p:cNvSpPr/>
          <p:nvPr/>
        </p:nvSpPr>
        <p:spPr>
          <a:xfrm>
            <a:off x="9765792" y="3520440"/>
            <a:ext cx="256032" cy="1417320"/>
          </a:xfrm>
          <a:prstGeom prst="roundRect">
            <a:avLst>
              <a:gd fmla="val 16667" name="adj"/>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0" name="Google Shape;170;h20c779728fdc65f1_2_75"/>
          <p:cNvSpPr/>
          <p:nvPr/>
        </p:nvSpPr>
        <p:spPr>
          <a:xfrm>
            <a:off x="10277856" y="3794760"/>
            <a:ext cx="256032" cy="1143000"/>
          </a:xfrm>
          <a:prstGeom prst="roundRect">
            <a:avLst>
              <a:gd fmla="val 16667" name="adj"/>
            </a:avLst>
          </a:prstGeom>
          <a:solidFill>
            <a:srgbClr val="36639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1" name="Google Shape;171;h20c779728fdc65f1_2_75"/>
          <p:cNvSpPr txBox="1"/>
          <p:nvPr/>
        </p:nvSpPr>
        <p:spPr>
          <a:xfrm>
            <a:off x="859536" y="5120640"/>
            <a:ext cx="7406640" cy="89563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700" u="none" cap="none" strike="noStrike">
                <a:solidFill>
                  <a:srgbClr val="FFFFFF"/>
                </a:solidFill>
                <a:latin typeface="Arial"/>
                <a:ea typeface="Arial"/>
                <a:cs typeface="Arial"/>
                <a:sym typeface="Arial"/>
              </a:rPr>
              <a:t>Gruppmedlemmar: Linnéa Emanuelsson, Isabel Holm, Irene Grisenti, Magdalena Persson &amp; Katarina Behrami</a:t>
            </a:r>
            <a:endParaRPr/>
          </a:p>
          <a:p>
            <a:pPr indent="0" lvl="0" marL="0" marR="0" rtl="0" algn="l">
              <a:spcBef>
                <a:spcPts val="0"/>
              </a:spcBef>
              <a:spcAft>
                <a:spcPts val="0"/>
              </a:spcAft>
              <a:buNone/>
            </a:pPr>
            <a:r>
              <a:t/>
            </a:r>
            <a:endParaRPr b="0" i="0" sz="1700" u="none" cap="none" strike="noStrike">
              <a:solidFill>
                <a:srgbClr val="FFFFFF"/>
              </a:solidFill>
              <a:latin typeface="Arial"/>
              <a:ea typeface="Arial"/>
              <a:cs typeface="Arial"/>
              <a:sym typeface="Arial"/>
            </a:endParaRPr>
          </a:p>
        </p:txBody>
      </p:sp>
      <p:sp>
        <p:nvSpPr>
          <p:cNvPr id="172" name="Google Shape;172;h20c779728fdc65f1_2_75"/>
          <p:cNvSpPr txBox="1"/>
          <p:nvPr/>
        </p:nvSpPr>
        <p:spPr>
          <a:xfrm>
            <a:off x="859536" y="6144768"/>
            <a:ext cx="6766560" cy="26468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000" u="none" cap="none" strike="noStrike">
                <a:solidFill>
                  <a:srgbClr val="AFC0D3"/>
                </a:solidFill>
                <a:latin typeface="Arial"/>
                <a:ea typeface="Arial"/>
                <a:cs typeface="Arial"/>
                <a:sym typeface="Arial"/>
              </a:rPr>
              <a:t>KOMPETENSTRENDER INOM SVENSK 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77" name="Shape 177"/>
        <p:cNvGrpSpPr/>
        <p:nvPr/>
      </p:nvGrpSpPr>
      <p:grpSpPr>
        <a:xfrm>
          <a:off x="0" y="0"/>
          <a:ext cx="0" cy="0"/>
          <a:chOff x="0" y="0"/>
          <a:chExt cx="0" cy="0"/>
        </a:xfrm>
      </p:grpSpPr>
      <p:sp>
        <p:nvSpPr>
          <p:cNvPr id="178" name="Google Shape;178;h20c779728fdc65f1_2_93"/>
          <p:cNvSpPr txBox="1"/>
          <p:nvPr/>
        </p:nvSpPr>
        <p:spPr>
          <a:xfrm>
            <a:off x="658368" y="347472"/>
            <a:ext cx="10881360" cy="2286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000" u="none" cap="none" strike="noStrike">
                <a:solidFill>
                  <a:srgbClr val="1E8E87"/>
                </a:solidFill>
                <a:latin typeface="Arial"/>
                <a:ea typeface="Arial"/>
                <a:cs typeface="Arial"/>
                <a:sym typeface="Arial"/>
              </a:rPr>
              <a:t>PROBLEM OCH ANVÄNDARE</a:t>
            </a:r>
            <a:endParaRPr/>
          </a:p>
        </p:txBody>
      </p:sp>
      <p:sp>
        <p:nvSpPr>
          <p:cNvPr id="179" name="Google Shape;179;h20c779728fdc65f1_2_93"/>
          <p:cNvSpPr txBox="1"/>
          <p:nvPr/>
        </p:nvSpPr>
        <p:spPr>
          <a:xfrm>
            <a:off x="658368" y="704088"/>
            <a:ext cx="10972800" cy="56692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2800" u="none" cap="none" strike="noStrike">
                <a:solidFill>
                  <a:srgbClr val="14243B"/>
                </a:solidFill>
                <a:latin typeface="Arial"/>
                <a:ea typeface="Arial"/>
                <a:cs typeface="Arial"/>
                <a:sym typeface="Arial"/>
              </a:rPr>
              <a:t>Vad efterfrågas – och var?</a:t>
            </a:r>
            <a:endParaRPr/>
          </a:p>
        </p:txBody>
      </p:sp>
      <p:sp>
        <p:nvSpPr>
          <p:cNvPr id="180" name="Google Shape;180;h20c779728fdc65f1_2_93"/>
          <p:cNvSpPr txBox="1"/>
          <p:nvPr/>
        </p:nvSpPr>
        <p:spPr>
          <a:xfrm>
            <a:off x="685800" y="1307592"/>
            <a:ext cx="10789920" cy="38404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5B6979"/>
                </a:solidFill>
                <a:latin typeface="Arial"/>
                <a:ea typeface="Arial"/>
                <a:cs typeface="Arial"/>
                <a:sym typeface="Arial"/>
              </a:rPr>
              <a:t>En avgränsad analys av kompetensbehov i IT-relaterade jobbannonser.</a:t>
            </a:r>
            <a:endParaRPr/>
          </a:p>
        </p:txBody>
      </p:sp>
      <p:sp>
        <p:nvSpPr>
          <p:cNvPr id="181" name="Google Shape;181;h20c779728fdc65f1_2_93"/>
          <p:cNvSpPr/>
          <p:nvPr/>
        </p:nvSpPr>
        <p:spPr>
          <a:xfrm>
            <a:off x="658368" y="1874519"/>
            <a:ext cx="3456432" cy="1874519"/>
          </a:xfrm>
          <a:prstGeom prst="roundRect">
            <a:avLst>
              <a:gd fmla="val 16667" name="adj"/>
            </a:avLst>
          </a:prstGeom>
          <a:solidFill>
            <a:srgbClr val="E4EDF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h20c779728fdc65f1_2_93"/>
          <p:cNvSpPr/>
          <p:nvPr/>
        </p:nvSpPr>
        <p:spPr>
          <a:xfrm>
            <a:off x="658368" y="1984248"/>
            <a:ext cx="64008" cy="1655063"/>
          </a:xfrm>
          <a:prstGeom prst="rect">
            <a:avLst/>
          </a:prstGeom>
          <a:solidFill>
            <a:srgbClr val="36639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3" name="Google Shape;183;h20c779728fdc65f1_2_93"/>
          <p:cNvSpPr txBox="1"/>
          <p:nvPr/>
        </p:nvSpPr>
        <p:spPr>
          <a:xfrm>
            <a:off x="859536" y="2039112"/>
            <a:ext cx="3090672"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VAD?</a:t>
            </a:r>
            <a:endParaRPr/>
          </a:p>
        </p:txBody>
      </p:sp>
      <p:sp>
        <p:nvSpPr>
          <p:cNvPr id="184" name="Google Shape;184;h20c779728fdc65f1_2_93"/>
          <p:cNvSpPr txBox="1"/>
          <p:nvPr/>
        </p:nvSpPr>
        <p:spPr>
          <a:xfrm>
            <a:off x="859536" y="2468879"/>
            <a:ext cx="3090672" cy="1161287"/>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500" u="none" cap="none" strike="noStrike">
                <a:solidFill>
                  <a:srgbClr val="283340"/>
                </a:solidFill>
                <a:latin typeface="Arial"/>
                <a:ea typeface="Arial"/>
                <a:cs typeface="Arial"/>
                <a:sym typeface="Arial"/>
              </a:rPr>
              <a:t>Identifiera återkommande kompetenser i annonstext med hjälp av NLP.</a:t>
            </a:r>
            <a:endParaRPr/>
          </a:p>
        </p:txBody>
      </p:sp>
      <p:sp>
        <p:nvSpPr>
          <p:cNvPr id="185" name="Google Shape;185;h20c779728fdc65f1_2_93"/>
          <p:cNvSpPr/>
          <p:nvPr/>
        </p:nvSpPr>
        <p:spPr>
          <a:xfrm>
            <a:off x="4361688" y="1874519"/>
            <a:ext cx="3456432" cy="1874519"/>
          </a:xfrm>
          <a:prstGeom prst="roundRect">
            <a:avLst>
              <a:gd fmla="val 16667" name="adj"/>
            </a:avLst>
          </a:prstGeom>
          <a:solidFill>
            <a:srgbClr val="E1F3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6" name="Google Shape;186;h20c779728fdc65f1_2_93"/>
          <p:cNvSpPr/>
          <p:nvPr/>
        </p:nvSpPr>
        <p:spPr>
          <a:xfrm>
            <a:off x="4361688" y="1984248"/>
            <a:ext cx="64008" cy="1655063"/>
          </a:xfrm>
          <a:prstGeom prst="rect">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h20c779728fdc65f1_2_93"/>
          <p:cNvSpPr txBox="1"/>
          <p:nvPr/>
        </p:nvSpPr>
        <p:spPr>
          <a:xfrm>
            <a:off x="4562855" y="2039112"/>
            <a:ext cx="3090672"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NÄR?</a:t>
            </a:r>
            <a:endParaRPr/>
          </a:p>
        </p:txBody>
      </p:sp>
      <p:sp>
        <p:nvSpPr>
          <p:cNvPr id="188" name="Google Shape;188;h20c779728fdc65f1_2_93"/>
          <p:cNvSpPr txBox="1"/>
          <p:nvPr/>
        </p:nvSpPr>
        <p:spPr>
          <a:xfrm>
            <a:off x="4562855" y="2468879"/>
            <a:ext cx="3090672" cy="1161287"/>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500" u="none" cap="none" strike="noStrike">
                <a:solidFill>
                  <a:srgbClr val="283340"/>
                </a:solidFill>
                <a:latin typeface="Arial"/>
                <a:ea typeface="Arial"/>
                <a:cs typeface="Arial"/>
                <a:sym typeface="Arial"/>
              </a:rPr>
              <a:t>Jämföra annonser månadsvis under 2025 och 2026.</a:t>
            </a:r>
            <a:endParaRPr/>
          </a:p>
        </p:txBody>
      </p:sp>
      <p:sp>
        <p:nvSpPr>
          <p:cNvPr id="189" name="Google Shape;189;h20c779728fdc65f1_2_93"/>
          <p:cNvSpPr/>
          <p:nvPr/>
        </p:nvSpPr>
        <p:spPr>
          <a:xfrm>
            <a:off x="8065008" y="1874519"/>
            <a:ext cx="3456432" cy="1874519"/>
          </a:xfrm>
          <a:prstGeom prst="roundRect">
            <a:avLst>
              <a:gd fmla="val 16667" name="adj"/>
            </a:avLst>
          </a:prstGeom>
          <a:solidFill>
            <a:srgbClr val="FCF6E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0" name="Google Shape;190;h20c779728fdc65f1_2_93"/>
          <p:cNvSpPr/>
          <p:nvPr/>
        </p:nvSpPr>
        <p:spPr>
          <a:xfrm>
            <a:off x="8065008" y="1984248"/>
            <a:ext cx="64008" cy="1655063"/>
          </a:xfrm>
          <a:prstGeom prst="rect">
            <a:avLst/>
          </a:prstGeom>
          <a:solidFill>
            <a:srgbClr val="F4B83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1" name="Google Shape;191;h20c779728fdc65f1_2_93"/>
          <p:cNvSpPr txBox="1"/>
          <p:nvPr/>
        </p:nvSpPr>
        <p:spPr>
          <a:xfrm>
            <a:off x="8266176" y="2039112"/>
            <a:ext cx="3090672"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VAR?</a:t>
            </a:r>
            <a:endParaRPr/>
          </a:p>
        </p:txBody>
      </p:sp>
      <p:sp>
        <p:nvSpPr>
          <p:cNvPr id="192" name="Google Shape;192;h20c779728fdc65f1_2_93"/>
          <p:cNvSpPr txBox="1"/>
          <p:nvPr/>
        </p:nvSpPr>
        <p:spPr>
          <a:xfrm>
            <a:off x="8266176" y="2468879"/>
            <a:ext cx="3090672" cy="1161287"/>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500" u="none" cap="none" strike="noStrike">
                <a:solidFill>
                  <a:srgbClr val="283340"/>
                </a:solidFill>
                <a:latin typeface="Arial"/>
                <a:ea typeface="Arial"/>
                <a:cs typeface="Arial"/>
                <a:sym typeface="Arial"/>
              </a:rPr>
              <a:t>Undersöka regionala skillnader och var flest annonser finns.</a:t>
            </a:r>
            <a:endParaRPr/>
          </a:p>
        </p:txBody>
      </p:sp>
      <p:sp>
        <p:nvSpPr>
          <p:cNvPr id="193" name="Google Shape;193;h20c779728fdc65f1_2_93"/>
          <p:cNvSpPr/>
          <p:nvPr/>
        </p:nvSpPr>
        <p:spPr>
          <a:xfrm>
            <a:off x="658368" y="4160520"/>
            <a:ext cx="10863072" cy="1417320"/>
          </a:xfrm>
          <a:prstGeom prst="roundRect">
            <a:avLst>
              <a:gd fmla="val 16667" name="adj"/>
            </a:avLst>
          </a:prstGeom>
          <a:solidFill>
            <a:srgbClr val="FFFFFF"/>
          </a:solidFill>
          <a:ln cap="flat" cmpd="sng" w="9525">
            <a:solidFill>
              <a:srgbClr val="DDE5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h20c779728fdc65f1_2_93"/>
          <p:cNvSpPr txBox="1"/>
          <p:nvPr/>
        </p:nvSpPr>
        <p:spPr>
          <a:xfrm>
            <a:off x="914400" y="4389120"/>
            <a:ext cx="2148840" cy="25603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000" u="none" cap="none" strike="noStrike">
                <a:solidFill>
                  <a:srgbClr val="BE4D4D"/>
                </a:solidFill>
                <a:latin typeface="Arial"/>
                <a:ea typeface="Arial"/>
                <a:cs typeface="Arial"/>
                <a:sym typeface="Arial"/>
              </a:rPr>
              <a:t>PROJEKTETS AVGRÄNSNING</a:t>
            </a:r>
            <a:endParaRPr/>
          </a:p>
        </p:txBody>
      </p:sp>
      <p:sp>
        <p:nvSpPr>
          <p:cNvPr id="195" name="Google Shape;195;h20c779728fdc65f1_2_93"/>
          <p:cNvSpPr txBox="1"/>
          <p:nvPr/>
        </p:nvSpPr>
        <p:spPr>
          <a:xfrm>
            <a:off x="3063240" y="4325112"/>
            <a:ext cx="7909560" cy="10515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400" u="none" cap="none" strike="noStrike">
                <a:solidFill>
                  <a:srgbClr val="283340"/>
                </a:solidFill>
                <a:latin typeface="Arial"/>
                <a:ea typeface="Arial"/>
                <a:cs typeface="Arial"/>
                <a:sym typeface="Arial"/>
              </a:rPr>
              <a:t>• Primär målgrupp: arbetssökande inom Data/IT</a:t>
            </a:r>
            <a:br>
              <a:rPr b="0" i="0" lang="sv-SE" sz="1400" u="none" cap="none" strike="noStrike">
                <a:solidFill>
                  <a:srgbClr val="283340"/>
                </a:solidFill>
                <a:latin typeface="Arial"/>
                <a:ea typeface="Arial"/>
                <a:cs typeface="Arial"/>
                <a:sym typeface="Arial"/>
              </a:rPr>
            </a:br>
            <a:r>
              <a:rPr b="0" i="0" lang="sv-SE" sz="1400" u="none" cap="none" strike="noStrike">
                <a:solidFill>
                  <a:srgbClr val="283340"/>
                </a:solidFill>
                <a:latin typeface="Arial"/>
                <a:ea typeface="Arial"/>
                <a:cs typeface="Arial"/>
                <a:sym typeface="Arial"/>
              </a:rPr>
              <a:t>• Endast svensk annonstext</a:t>
            </a:r>
            <a:br>
              <a:rPr b="0" i="0" lang="sv-SE" sz="1400" u="none" cap="none" strike="noStrike">
                <a:solidFill>
                  <a:srgbClr val="283340"/>
                </a:solidFill>
                <a:latin typeface="Arial"/>
                <a:ea typeface="Arial"/>
                <a:cs typeface="Arial"/>
                <a:sym typeface="Arial"/>
              </a:rPr>
            </a:br>
            <a:r>
              <a:rPr b="0" i="0" lang="sv-SE" sz="1400" u="none" cap="none" strike="noStrike">
                <a:solidFill>
                  <a:srgbClr val="283340"/>
                </a:solidFill>
                <a:latin typeface="Arial"/>
                <a:ea typeface="Arial"/>
                <a:cs typeface="Arial"/>
                <a:sym typeface="Arial"/>
              </a:rPr>
              <a:t>• SSYK 2511: systemanalytiker och IT-arkitekter m.fl.</a:t>
            </a:r>
            <a:br>
              <a:rPr b="0" i="0" lang="sv-SE" sz="1400" u="none" cap="none" strike="noStrike">
                <a:solidFill>
                  <a:srgbClr val="283340"/>
                </a:solidFill>
                <a:latin typeface="Arial"/>
                <a:ea typeface="Arial"/>
                <a:cs typeface="Arial"/>
                <a:sym typeface="Arial"/>
              </a:rPr>
            </a:br>
            <a:r>
              <a:rPr b="0" i="0" lang="sv-SE" sz="1400" u="none" cap="none" strike="noStrike">
                <a:solidFill>
                  <a:srgbClr val="283340"/>
                </a:solidFill>
                <a:latin typeface="Arial"/>
                <a:ea typeface="Arial"/>
                <a:cs typeface="Arial"/>
                <a:sym typeface="Arial"/>
              </a:rPr>
              <a:t>• Period: 1 januari 2025–31 augusti 2026</a:t>
            </a:r>
            <a:endParaRPr/>
          </a:p>
        </p:txBody>
      </p:sp>
      <p:sp>
        <p:nvSpPr>
          <p:cNvPr id="196" name="Google Shape;196;h20c779728fdc65f1_2_93"/>
          <p:cNvSpPr txBox="1"/>
          <p:nvPr/>
        </p:nvSpPr>
        <p:spPr>
          <a:xfrm>
            <a:off x="658368" y="6510528"/>
            <a:ext cx="8686800" cy="16459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01" name="Shape 201"/>
        <p:cNvGrpSpPr/>
        <p:nvPr/>
      </p:nvGrpSpPr>
      <p:grpSpPr>
        <a:xfrm>
          <a:off x="0" y="0"/>
          <a:ext cx="0" cy="0"/>
          <a:chOff x="0" y="0"/>
          <a:chExt cx="0" cy="0"/>
        </a:xfrm>
      </p:grpSpPr>
      <p:sp>
        <p:nvSpPr>
          <p:cNvPr id="202" name="Google Shape;202;h20c779728fdc65f1_2_117"/>
          <p:cNvSpPr txBox="1"/>
          <p:nvPr/>
        </p:nvSpPr>
        <p:spPr>
          <a:xfrm>
            <a:off x="658368" y="347472"/>
            <a:ext cx="10881300" cy="2286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000" u="none" cap="none" strike="noStrike">
                <a:solidFill>
                  <a:srgbClr val="1E8E87"/>
                </a:solidFill>
                <a:latin typeface="Arial"/>
                <a:ea typeface="Arial"/>
                <a:cs typeface="Arial"/>
                <a:sym typeface="Arial"/>
              </a:rPr>
              <a:t>DATA</a:t>
            </a:r>
            <a:endParaRPr/>
          </a:p>
        </p:txBody>
      </p:sp>
      <p:sp>
        <p:nvSpPr>
          <p:cNvPr id="203" name="Google Shape;203;h20c779728fdc65f1_2_117"/>
          <p:cNvSpPr txBox="1"/>
          <p:nvPr/>
        </p:nvSpPr>
        <p:spPr>
          <a:xfrm>
            <a:off x="658368" y="704088"/>
            <a:ext cx="10972800" cy="56692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2800" u="none" cap="none" strike="noStrike">
                <a:solidFill>
                  <a:srgbClr val="14243B"/>
                </a:solidFill>
                <a:latin typeface="Arial"/>
                <a:ea typeface="Arial"/>
                <a:cs typeface="Arial"/>
                <a:sym typeface="Arial"/>
              </a:rPr>
              <a:t>Historiska annonser från Platsbanken</a:t>
            </a:r>
            <a:endParaRPr/>
          </a:p>
        </p:txBody>
      </p:sp>
      <p:sp>
        <p:nvSpPr>
          <p:cNvPr id="204" name="Google Shape;204;h20c779728fdc65f1_2_117"/>
          <p:cNvSpPr txBox="1"/>
          <p:nvPr/>
        </p:nvSpPr>
        <p:spPr>
          <a:xfrm>
            <a:off x="685800" y="1307592"/>
            <a:ext cx="10789920" cy="38404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5B6979"/>
                </a:solidFill>
                <a:latin typeface="Arial"/>
                <a:ea typeface="Arial"/>
                <a:cs typeface="Arial"/>
                <a:sym typeface="Arial"/>
              </a:rPr>
              <a:t>Källan fångar annonser publicerade i Platsbanken – inte hela den svenska arbetsmarknaden.</a:t>
            </a:r>
            <a:endParaRPr/>
          </a:p>
        </p:txBody>
      </p:sp>
      <p:sp>
        <p:nvSpPr>
          <p:cNvPr id="205" name="Google Shape;205;h20c779728fdc65f1_2_117"/>
          <p:cNvSpPr/>
          <p:nvPr/>
        </p:nvSpPr>
        <p:spPr>
          <a:xfrm>
            <a:off x="658368" y="1828800"/>
            <a:ext cx="3794760" cy="333756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h20c779728fdc65f1_2_117"/>
          <p:cNvSpPr/>
          <p:nvPr/>
        </p:nvSpPr>
        <p:spPr>
          <a:xfrm>
            <a:off x="658368" y="1938528"/>
            <a:ext cx="64008" cy="3118104"/>
          </a:xfrm>
          <a:prstGeom prst="rect">
            <a:avLst/>
          </a:prstGeom>
          <a:solidFill>
            <a:srgbClr val="36639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h20c779728fdc65f1_2_117"/>
          <p:cNvSpPr txBox="1"/>
          <p:nvPr/>
        </p:nvSpPr>
        <p:spPr>
          <a:xfrm>
            <a:off x="859536" y="1993392"/>
            <a:ext cx="3429000"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Datakälla</a:t>
            </a:r>
            <a:endParaRPr/>
          </a:p>
        </p:txBody>
      </p:sp>
      <p:sp>
        <p:nvSpPr>
          <p:cNvPr id="208" name="Google Shape;208;h20c779728fdc65f1_2_117"/>
          <p:cNvSpPr txBox="1"/>
          <p:nvPr/>
        </p:nvSpPr>
        <p:spPr>
          <a:xfrm>
            <a:off x="859536" y="2423160"/>
            <a:ext cx="3429000" cy="262432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600" u="none" cap="none" strike="noStrike">
                <a:solidFill>
                  <a:srgbClr val="283340"/>
                </a:solidFill>
                <a:latin typeface="Arial"/>
                <a:ea typeface="Arial"/>
                <a:cs typeface="Arial"/>
                <a:sym typeface="Arial"/>
              </a:rPr>
              <a:t>Arbetsförmedlingens Platsbanken</a:t>
            </a:r>
            <a:br>
              <a:rPr b="0" i="0" lang="sv-SE" sz="1600" u="none" cap="none" strike="noStrike">
                <a:solidFill>
                  <a:srgbClr val="283340"/>
                </a:solidFill>
                <a:latin typeface="Arial"/>
                <a:ea typeface="Arial"/>
                <a:cs typeface="Arial"/>
                <a:sym typeface="Arial"/>
              </a:rPr>
            </a:br>
            <a:br>
              <a:rPr b="0" i="0" lang="sv-SE" sz="1600" u="none" cap="none" strike="noStrike">
                <a:solidFill>
                  <a:srgbClr val="283340"/>
                </a:solidFill>
                <a:latin typeface="Arial"/>
                <a:ea typeface="Arial"/>
                <a:cs typeface="Arial"/>
                <a:sym typeface="Arial"/>
              </a:rPr>
            </a:br>
            <a:r>
              <a:rPr b="0" i="0" lang="sv-SE" sz="1600" u="none" cap="none" strike="noStrike">
                <a:solidFill>
                  <a:srgbClr val="283340"/>
                </a:solidFill>
                <a:latin typeface="Arial"/>
                <a:ea typeface="Arial"/>
                <a:cs typeface="Arial"/>
                <a:sym typeface="Arial"/>
              </a:rPr>
              <a:t>JobTech Development</a:t>
            </a:r>
            <a:br>
              <a:rPr b="0" i="0" lang="sv-SE" sz="1600" u="none" cap="none" strike="noStrike">
                <a:solidFill>
                  <a:srgbClr val="283340"/>
                </a:solidFill>
                <a:latin typeface="Arial"/>
                <a:ea typeface="Arial"/>
                <a:cs typeface="Arial"/>
                <a:sym typeface="Arial"/>
              </a:rPr>
            </a:br>
            <a:r>
              <a:rPr b="0" i="0" lang="sv-SE" sz="1600" u="none" cap="none" strike="noStrike">
                <a:solidFill>
                  <a:srgbClr val="283340"/>
                </a:solidFill>
                <a:latin typeface="Arial"/>
                <a:ea typeface="Arial"/>
                <a:cs typeface="Arial"/>
                <a:sym typeface="Arial"/>
              </a:rPr>
              <a:t>Historical Job Ads API</a:t>
            </a:r>
            <a:br>
              <a:rPr b="0" i="0" lang="sv-SE" sz="1600" u="none" cap="none" strike="noStrike">
                <a:solidFill>
                  <a:srgbClr val="283340"/>
                </a:solidFill>
                <a:latin typeface="Arial"/>
                <a:ea typeface="Arial"/>
                <a:cs typeface="Arial"/>
                <a:sym typeface="Arial"/>
              </a:rPr>
            </a:br>
            <a:br>
              <a:rPr b="0" i="0" lang="sv-SE" sz="1600" u="none" cap="none" strike="noStrike">
                <a:solidFill>
                  <a:srgbClr val="283340"/>
                </a:solidFill>
                <a:latin typeface="Arial"/>
                <a:ea typeface="Arial"/>
                <a:cs typeface="Arial"/>
                <a:sym typeface="Arial"/>
              </a:rPr>
            </a:br>
            <a:r>
              <a:rPr b="0" i="0" lang="sv-SE" sz="1600" u="none" cap="none" strike="noStrike">
                <a:solidFill>
                  <a:srgbClr val="283340"/>
                </a:solidFill>
                <a:latin typeface="Arial"/>
                <a:ea typeface="Arial"/>
                <a:cs typeface="Arial"/>
                <a:sym typeface="Arial"/>
              </a:rPr>
              <a:t>historical.api.jobtechdev.se</a:t>
            </a:r>
            <a:endParaRPr/>
          </a:p>
        </p:txBody>
      </p:sp>
      <p:sp>
        <p:nvSpPr>
          <p:cNvPr id="209" name="Google Shape;209;h20c779728fdc65f1_2_117"/>
          <p:cNvSpPr txBox="1"/>
          <p:nvPr/>
        </p:nvSpPr>
        <p:spPr>
          <a:xfrm>
            <a:off x="4892040" y="1938528"/>
            <a:ext cx="6035040" cy="2743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100" u="none" cap="none" strike="noStrike">
                <a:solidFill>
                  <a:srgbClr val="1E8E87"/>
                </a:solidFill>
                <a:latin typeface="Arial"/>
                <a:ea typeface="Arial"/>
                <a:cs typeface="Arial"/>
                <a:sym typeface="Arial"/>
              </a:rPr>
              <a:t>SÅ FÖRBEREDDES DATA</a:t>
            </a:r>
            <a:endParaRPr/>
          </a:p>
        </p:txBody>
      </p:sp>
      <p:sp>
        <p:nvSpPr>
          <p:cNvPr id="210" name="Google Shape;210;h20c779728fdc65f1_2_117"/>
          <p:cNvSpPr/>
          <p:nvPr/>
        </p:nvSpPr>
        <p:spPr>
          <a:xfrm>
            <a:off x="4910328" y="2395728"/>
            <a:ext cx="384048" cy="384048"/>
          </a:xfrm>
          <a:prstGeom prst="ellipse">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1" name="Google Shape;211;h20c779728fdc65f1_2_117"/>
          <p:cNvSpPr txBox="1"/>
          <p:nvPr/>
        </p:nvSpPr>
        <p:spPr>
          <a:xfrm>
            <a:off x="4910328" y="2459736"/>
            <a:ext cx="384048" cy="18288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01</a:t>
            </a:r>
            <a:endParaRPr/>
          </a:p>
        </p:txBody>
      </p:sp>
      <p:sp>
        <p:nvSpPr>
          <p:cNvPr id="212" name="Google Shape;212;h20c779728fdc65f1_2_117"/>
          <p:cNvSpPr txBox="1"/>
          <p:nvPr/>
        </p:nvSpPr>
        <p:spPr>
          <a:xfrm>
            <a:off x="5468112" y="2386584"/>
            <a:ext cx="1371600" cy="2743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500" u="none" cap="none" strike="noStrike">
                <a:solidFill>
                  <a:srgbClr val="14243B"/>
                </a:solidFill>
                <a:latin typeface="Arial"/>
                <a:ea typeface="Arial"/>
                <a:cs typeface="Arial"/>
                <a:sym typeface="Arial"/>
              </a:rPr>
              <a:t>Urval</a:t>
            </a:r>
            <a:endParaRPr/>
          </a:p>
        </p:txBody>
      </p:sp>
      <p:sp>
        <p:nvSpPr>
          <p:cNvPr id="213" name="Google Shape;213;h20c779728fdc65f1_2_117"/>
          <p:cNvSpPr txBox="1"/>
          <p:nvPr/>
        </p:nvSpPr>
        <p:spPr>
          <a:xfrm>
            <a:off x="6839712" y="2386584"/>
            <a:ext cx="4206240" cy="42976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Avgränsa till SSYK-grupp 2511.</a:t>
            </a:r>
            <a:endParaRPr/>
          </a:p>
        </p:txBody>
      </p:sp>
      <p:sp>
        <p:nvSpPr>
          <p:cNvPr id="214" name="Google Shape;214;h20c779728fdc65f1_2_117"/>
          <p:cNvSpPr/>
          <p:nvPr/>
        </p:nvSpPr>
        <p:spPr>
          <a:xfrm>
            <a:off x="4910328" y="3054096"/>
            <a:ext cx="384048" cy="384048"/>
          </a:xfrm>
          <a:prstGeom prst="ellipse">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5" name="Google Shape;215;h20c779728fdc65f1_2_117"/>
          <p:cNvSpPr txBox="1"/>
          <p:nvPr/>
        </p:nvSpPr>
        <p:spPr>
          <a:xfrm>
            <a:off x="4910328" y="3118103"/>
            <a:ext cx="384048" cy="18288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02</a:t>
            </a:r>
            <a:endParaRPr/>
          </a:p>
        </p:txBody>
      </p:sp>
      <p:sp>
        <p:nvSpPr>
          <p:cNvPr id="216" name="Google Shape;216;h20c779728fdc65f1_2_117"/>
          <p:cNvSpPr txBox="1"/>
          <p:nvPr/>
        </p:nvSpPr>
        <p:spPr>
          <a:xfrm>
            <a:off x="5468112" y="3044952"/>
            <a:ext cx="1371600" cy="2743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500" u="none" cap="none" strike="noStrike">
                <a:solidFill>
                  <a:srgbClr val="14243B"/>
                </a:solidFill>
                <a:latin typeface="Arial"/>
                <a:ea typeface="Arial"/>
                <a:cs typeface="Arial"/>
                <a:sym typeface="Arial"/>
              </a:rPr>
              <a:t>Språk</a:t>
            </a:r>
            <a:endParaRPr/>
          </a:p>
        </p:txBody>
      </p:sp>
      <p:sp>
        <p:nvSpPr>
          <p:cNvPr id="217" name="Google Shape;217;h20c779728fdc65f1_2_117"/>
          <p:cNvSpPr txBox="1"/>
          <p:nvPr/>
        </p:nvSpPr>
        <p:spPr>
          <a:xfrm>
            <a:off x="6839712" y="3044952"/>
            <a:ext cx="4206240" cy="42976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Behålla annonser med svensk annonstext.</a:t>
            </a:r>
            <a:endParaRPr/>
          </a:p>
        </p:txBody>
      </p:sp>
      <p:sp>
        <p:nvSpPr>
          <p:cNvPr id="218" name="Google Shape;218;h20c779728fdc65f1_2_117"/>
          <p:cNvSpPr/>
          <p:nvPr/>
        </p:nvSpPr>
        <p:spPr>
          <a:xfrm>
            <a:off x="4910328" y="3712464"/>
            <a:ext cx="384048" cy="384048"/>
          </a:xfrm>
          <a:prstGeom prst="ellipse">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9" name="Google Shape;219;h20c779728fdc65f1_2_117"/>
          <p:cNvSpPr txBox="1"/>
          <p:nvPr/>
        </p:nvSpPr>
        <p:spPr>
          <a:xfrm>
            <a:off x="4910328" y="3776472"/>
            <a:ext cx="384048" cy="18288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03</a:t>
            </a:r>
            <a:endParaRPr/>
          </a:p>
        </p:txBody>
      </p:sp>
      <p:sp>
        <p:nvSpPr>
          <p:cNvPr id="220" name="Google Shape;220;h20c779728fdc65f1_2_117"/>
          <p:cNvSpPr txBox="1"/>
          <p:nvPr/>
        </p:nvSpPr>
        <p:spPr>
          <a:xfrm>
            <a:off x="5468112" y="3703320"/>
            <a:ext cx="1371600" cy="2743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500" u="none" cap="none" strike="noStrike">
                <a:solidFill>
                  <a:srgbClr val="14243B"/>
                </a:solidFill>
                <a:latin typeface="Arial"/>
                <a:ea typeface="Arial"/>
                <a:cs typeface="Arial"/>
                <a:sym typeface="Arial"/>
              </a:rPr>
              <a:t>Rensning</a:t>
            </a:r>
            <a:endParaRPr/>
          </a:p>
        </p:txBody>
      </p:sp>
      <p:sp>
        <p:nvSpPr>
          <p:cNvPr id="221" name="Google Shape;221;h20c779728fdc65f1_2_117"/>
          <p:cNvSpPr txBox="1"/>
          <p:nvPr/>
        </p:nvSpPr>
        <p:spPr>
          <a:xfrm>
            <a:off x="6839712" y="3703320"/>
            <a:ext cx="4206240" cy="42976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Ta bort eller maskera personuppgifter och hantera dubbletter.</a:t>
            </a:r>
            <a:endParaRPr/>
          </a:p>
        </p:txBody>
      </p:sp>
      <p:sp>
        <p:nvSpPr>
          <p:cNvPr id="222" name="Google Shape;222;h20c779728fdc65f1_2_117"/>
          <p:cNvSpPr/>
          <p:nvPr/>
        </p:nvSpPr>
        <p:spPr>
          <a:xfrm>
            <a:off x="4910328" y="4370832"/>
            <a:ext cx="384048" cy="384048"/>
          </a:xfrm>
          <a:prstGeom prst="ellipse">
            <a:avLst/>
          </a:prstGeom>
          <a:solidFill>
            <a:srgbClr val="1E8E8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3" name="Google Shape;223;h20c779728fdc65f1_2_117"/>
          <p:cNvSpPr txBox="1"/>
          <p:nvPr/>
        </p:nvSpPr>
        <p:spPr>
          <a:xfrm>
            <a:off x="4910328" y="4434840"/>
            <a:ext cx="384048" cy="18288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04</a:t>
            </a:r>
            <a:endParaRPr/>
          </a:p>
        </p:txBody>
      </p:sp>
      <p:sp>
        <p:nvSpPr>
          <p:cNvPr id="224" name="Google Shape;224;h20c779728fdc65f1_2_117"/>
          <p:cNvSpPr txBox="1"/>
          <p:nvPr/>
        </p:nvSpPr>
        <p:spPr>
          <a:xfrm>
            <a:off x="5468112" y="4361688"/>
            <a:ext cx="1371600" cy="2743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500" u="none" cap="none" strike="noStrike">
                <a:solidFill>
                  <a:srgbClr val="14243B"/>
                </a:solidFill>
                <a:latin typeface="Arial"/>
                <a:ea typeface="Arial"/>
                <a:cs typeface="Arial"/>
                <a:sym typeface="Arial"/>
              </a:rPr>
              <a:t>Förberedelse</a:t>
            </a:r>
            <a:endParaRPr/>
          </a:p>
        </p:txBody>
      </p:sp>
      <p:sp>
        <p:nvSpPr>
          <p:cNvPr id="225" name="Google Shape;225;h20c779728fdc65f1_2_117"/>
          <p:cNvSpPr txBox="1"/>
          <p:nvPr/>
        </p:nvSpPr>
        <p:spPr>
          <a:xfrm>
            <a:off x="6839712" y="4361688"/>
            <a:ext cx="4206240" cy="42976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Använda publiceringsdatum för månads- och årsjämförelser.</a:t>
            </a:r>
            <a:endParaRPr/>
          </a:p>
        </p:txBody>
      </p:sp>
      <p:sp>
        <p:nvSpPr>
          <p:cNvPr id="226" name="Google Shape;226;h20c779728fdc65f1_2_117"/>
          <p:cNvSpPr txBox="1"/>
          <p:nvPr/>
        </p:nvSpPr>
        <p:spPr>
          <a:xfrm>
            <a:off x="4901184" y="5257800"/>
            <a:ext cx="6172200" cy="53035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100" u="none" cap="none" strike="noStrike">
                <a:solidFill>
                  <a:srgbClr val="5B6979"/>
                </a:solidFill>
                <a:latin typeface="Arial"/>
                <a:ea typeface="Arial"/>
                <a:cs typeface="Arial"/>
                <a:sym typeface="Arial"/>
              </a:rPr>
              <a:t>Licens: CC0 – bred återanvändning är tillåten, men personuppgifter måste fortfarande hanteras ansvarsfullt.</a:t>
            </a:r>
            <a:endParaRPr/>
          </a:p>
        </p:txBody>
      </p:sp>
      <p:sp>
        <p:nvSpPr>
          <p:cNvPr id="227" name="Google Shape;227;h20c779728fdc65f1_2_117"/>
          <p:cNvSpPr txBox="1"/>
          <p:nvPr/>
        </p:nvSpPr>
        <p:spPr>
          <a:xfrm>
            <a:off x="658368" y="6510528"/>
            <a:ext cx="8686800" cy="16459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32" name="Shape 232"/>
        <p:cNvGrpSpPr/>
        <p:nvPr/>
      </p:nvGrpSpPr>
      <p:grpSpPr>
        <a:xfrm>
          <a:off x="0" y="0"/>
          <a:ext cx="0" cy="0"/>
          <a:chOff x="0" y="0"/>
          <a:chExt cx="0" cy="0"/>
        </a:xfrm>
      </p:grpSpPr>
      <p:sp>
        <p:nvSpPr>
          <p:cNvPr id="233" name="Google Shape;233;h20c779728fdc65f1_2_148"/>
          <p:cNvSpPr txBox="1"/>
          <p:nvPr/>
        </p:nvSpPr>
        <p:spPr>
          <a:xfrm>
            <a:off x="658368" y="347472"/>
            <a:ext cx="10881360" cy="2286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000" u="none" cap="none" strike="noStrike">
                <a:solidFill>
                  <a:srgbClr val="1E8E87"/>
                </a:solidFill>
                <a:latin typeface="Arial"/>
                <a:ea typeface="Arial"/>
                <a:cs typeface="Arial"/>
                <a:sym typeface="Arial"/>
              </a:rPr>
              <a:t>DATAKVALITET OCH BEGRÄNSNINGAR</a:t>
            </a:r>
            <a:endParaRPr/>
          </a:p>
        </p:txBody>
      </p:sp>
      <p:sp>
        <p:nvSpPr>
          <p:cNvPr id="234" name="Google Shape;234;h20c779728fdc65f1_2_148"/>
          <p:cNvSpPr txBox="1"/>
          <p:nvPr/>
        </p:nvSpPr>
        <p:spPr>
          <a:xfrm>
            <a:off x="658368" y="704088"/>
            <a:ext cx="10972800" cy="56692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2800" u="none" cap="none" strike="noStrike">
                <a:solidFill>
                  <a:srgbClr val="14243B"/>
                </a:solidFill>
                <a:latin typeface="Arial"/>
                <a:ea typeface="Arial"/>
                <a:cs typeface="Arial"/>
                <a:sym typeface="Arial"/>
              </a:rPr>
              <a:t>Vad behöver vi ta hänsyn till?</a:t>
            </a:r>
            <a:endParaRPr/>
          </a:p>
        </p:txBody>
      </p:sp>
      <p:sp>
        <p:nvSpPr>
          <p:cNvPr id="235" name="Google Shape;235;h20c779728fdc65f1_2_148"/>
          <p:cNvSpPr txBox="1"/>
          <p:nvPr/>
        </p:nvSpPr>
        <p:spPr>
          <a:xfrm>
            <a:off x="685800" y="1307592"/>
            <a:ext cx="10789920" cy="38404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5B6979"/>
                </a:solidFill>
                <a:latin typeface="Arial"/>
                <a:ea typeface="Arial"/>
                <a:cs typeface="Arial"/>
                <a:sym typeface="Arial"/>
              </a:rPr>
              <a:t>Tre dataproblem – och en särskilt viktig begränsning i jämförelsen mellan åren.</a:t>
            </a:r>
            <a:endParaRPr/>
          </a:p>
        </p:txBody>
      </p:sp>
      <p:sp>
        <p:nvSpPr>
          <p:cNvPr id="236" name="Google Shape;236;h20c779728fdc65f1_2_148"/>
          <p:cNvSpPr/>
          <p:nvPr/>
        </p:nvSpPr>
        <p:spPr>
          <a:xfrm>
            <a:off x="658368" y="1847088"/>
            <a:ext cx="3456432" cy="192024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7" name="Google Shape;237;h20c779728fdc65f1_2_148"/>
          <p:cNvSpPr/>
          <p:nvPr/>
        </p:nvSpPr>
        <p:spPr>
          <a:xfrm>
            <a:off x="658368" y="1956816"/>
            <a:ext cx="64008" cy="1700784"/>
          </a:xfrm>
          <a:prstGeom prst="rect">
            <a:avLst/>
          </a:prstGeom>
          <a:solidFill>
            <a:srgbClr val="BE4D4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8" name="Google Shape;238;h20c779728fdc65f1_2_148"/>
          <p:cNvSpPr txBox="1"/>
          <p:nvPr/>
        </p:nvSpPr>
        <p:spPr>
          <a:xfrm>
            <a:off x="859536" y="2011680"/>
            <a:ext cx="3090672"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Personuppgifter</a:t>
            </a:r>
            <a:endParaRPr/>
          </a:p>
        </p:txBody>
      </p:sp>
      <p:sp>
        <p:nvSpPr>
          <p:cNvPr id="239" name="Google Shape;239;h20c779728fdc65f1_2_148"/>
          <p:cNvSpPr txBox="1"/>
          <p:nvPr/>
        </p:nvSpPr>
        <p:spPr>
          <a:xfrm>
            <a:off x="859536" y="2441448"/>
            <a:ext cx="3090672" cy="120700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Arbetsförmedlingen tar redan bort mycket. Vi gick igenom materialet igen och tog bort eller maskerade personuppgifter.</a:t>
            </a:r>
            <a:endParaRPr/>
          </a:p>
        </p:txBody>
      </p:sp>
      <p:sp>
        <p:nvSpPr>
          <p:cNvPr id="240" name="Google Shape;240;h20c779728fdc65f1_2_148"/>
          <p:cNvSpPr/>
          <p:nvPr/>
        </p:nvSpPr>
        <p:spPr>
          <a:xfrm>
            <a:off x="4361688" y="1847088"/>
            <a:ext cx="3456432" cy="192024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1" name="Google Shape;241;h20c779728fdc65f1_2_148"/>
          <p:cNvSpPr/>
          <p:nvPr/>
        </p:nvSpPr>
        <p:spPr>
          <a:xfrm>
            <a:off x="4361688" y="1956816"/>
            <a:ext cx="64008" cy="1700784"/>
          </a:xfrm>
          <a:prstGeom prst="rect">
            <a:avLst/>
          </a:prstGeom>
          <a:solidFill>
            <a:srgbClr val="F4B83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2" name="Google Shape;242;h20c779728fdc65f1_2_148"/>
          <p:cNvSpPr txBox="1"/>
          <p:nvPr/>
        </p:nvSpPr>
        <p:spPr>
          <a:xfrm>
            <a:off x="4562855" y="2011680"/>
            <a:ext cx="3090672"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Kategorisering</a:t>
            </a:r>
            <a:endParaRPr/>
          </a:p>
        </p:txBody>
      </p:sp>
      <p:sp>
        <p:nvSpPr>
          <p:cNvPr id="243" name="Google Shape;243;h20c779728fdc65f1_2_148"/>
          <p:cNvSpPr txBox="1"/>
          <p:nvPr/>
        </p:nvSpPr>
        <p:spPr>
          <a:xfrm>
            <a:off x="4562855" y="2441448"/>
            <a:ext cx="3090672" cy="120700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Arbetsgivare väljer kategorier själva. Vi fokuserade därför på kolumner med ifylld och relevant information.</a:t>
            </a:r>
            <a:endParaRPr/>
          </a:p>
        </p:txBody>
      </p:sp>
      <p:sp>
        <p:nvSpPr>
          <p:cNvPr id="244" name="Google Shape;244;h20c779728fdc65f1_2_148"/>
          <p:cNvSpPr/>
          <p:nvPr/>
        </p:nvSpPr>
        <p:spPr>
          <a:xfrm>
            <a:off x="8065008" y="1847088"/>
            <a:ext cx="3456432" cy="192024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h20c779728fdc65f1_2_148"/>
          <p:cNvSpPr/>
          <p:nvPr/>
        </p:nvSpPr>
        <p:spPr>
          <a:xfrm>
            <a:off x="8065008" y="1956816"/>
            <a:ext cx="64008" cy="1700784"/>
          </a:xfrm>
          <a:prstGeom prst="rect">
            <a:avLst/>
          </a:prstGeom>
          <a:solidFill>
            <a:srgbClr val="36639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h20c779728fdc65f1_2_148"/>
          <p:cNvSpPr txBox="1"/>
          <p:nvPr/>
        </p:nvSpPr>
        <p:spPr>
          <a:xfrm>
            <a:off x="8266176" y="2011680"/>
            <a:ext cx="3090672"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14243B"/>
                </a:solidFill>
                <a:latin typeface="Arial"/>
                <a:ea typeface="Arial"/>
                <a:cs typeface="Arial"/>
                <a:sym typeface="Arial"/>
              </a:rPr>
              <a:t>Dubbletter</a:t>
            </a:r>
            <a:endParaRPr/>
          </a:p>
        </p:txBody>
      </p:sp>
      <p:sp>
        <p:nvSpPr>
          <p:cNvPr id="247" name="Google Shape;247;h20c779728fdc65f1_2_148"/>
          <p:cNvSpPr txBox="1"/>
          <p:nvPr/>
        </p:nvSpPr>
        <p:spPr>
          <a:xfrm>
            <a:off x="8266176" y="2441448"/>
            <a:ext cx="3090672" cy="120700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300" u="none" cap="none" strike="noStrike">
                <a:solidFill>
                  <a:srgbClr val="283340"/>
                </a:solidFill>
                <a:latin typeface="Arial"/>
                <a:ea typeface="Arial"/>
                <a:cs typeface="Arial"/>
                <a:sym typeface="Arial"/>
              </a:rPr>
              <a:t>Samma annons kan publiceras flera gånger, till exempel via bemannings- och konsultföretag.</a:t>
            </a:r>
            <a:endParaRPr/>
          </a:p>
        </p:txBody>
      </p:sp>
      <p:sp>
        <p:nvSpPr>
          <p:cNvPr id="248" name="Google Shape;248;h20c779728fdc65f1_2_148"/>
          <p:cNvSpPr/>
          <p:nvPr/>
        </p:nvSpPr>
        <p:spPr>
          <a:xfrm>
            <a:off x="658368" y="4133087"/>
            <a:ext cx="10863072" cy="1417320"/>
          </a:xfrm>
          <a:prstGeom prst="roundRect">
            <a:avLst>
              <a:gd fmla="val 16667" name="adj"/>
            </a:avLst>
          </a:prstGeom>
          <a:solidFill>
            <a:srgbClr val="1424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9" name="Google Shape;249;h20c779728fdc65f1_2_148"/>
          <p:cNvSpPr txBox="1"/>
          <p:nvPr/>
        </p:nvSpPr>
        <p:spPr>
          <a:xfrm>
            <a:off x="914400" y="4370832"/>
            <a:ext cx="2057400" cy="25603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000" u="none" cap="none" strike="noStrike">
                <a:solidFill>
                  <a:srgbClr val="F4B83F"/>
                </a:solidFill>
                <a:latin typeface="Arial"/>
                <a:ea typeface="Arial"/>
                <a:cs typeface="Arial"/>
                <a:sym typeface="Arial"/>
              </a:rPr>
              <a:t>VIKTIG BEGRÄNSNING</a:t>
            </a:r>
            <a:endParaRPr/>
          </a:p>
        </p:txBody>
      </p:sp>
      <p:sp>
        <p:nvSpPr>
          <p:cNvPr id="250" name="Google Shape;250;h20c779728fdc65f1_2_148"/>
          <p:cNvSpPr txBox="1"/>
          <p:nvPr/>
        </p:nvSpPr>
        <p:spPr>
          <a:xfrm>
            <a:off x="2999232" y="4315968"/>
            <a:ext cx="8092440" cy="64008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1600" u="none" cap="none" strike="noStrike">
                <a:solidFill>
                  <a:srgbClr val="FFFFFF"/>
                </a:solidFill>
                <a:latin typeface="Arial"/>
                <a:ea typeface="Arial"/>
                <a:cs typeface="Arial"/>
                <a:sym typeface="Arial"/>
              </a:rPr>
              <a:t>Vissa annonser från 2026 kan fortfarande vara aktiva och saknas därför i API:et. De senare månaderna 2026 kan ha färre annonser än 2025.</a:t>
            </a:r>
            <a:endParaRPr/>
          </a:p>
        </p:txBody>
      </p:sp>
      <p:sp>
        <p:nvSpPr>
          <p:cNvPr id="251" name="Google Shape;251;h20c779728fdc65f1_2_148"/>
          <p:cNvSpPr txBox="1"/>
          <p:nvPr/>
        </p:nvSpPr>
        <p:spPr>
          <a:xfrm>
            <a:off x="914400" y="5074920"/>
            <a:ext cx="9966960" cy="292608"/>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sv-SE" sz="1200" u="none" cap="none" strike="noStrike">
                <a:solidFill>
                  <a:srgbClr val="DDE6EF"/>
                </a:solidFill>
                <a:latin typeface="Arial"/>
                <a:ea typeface="Arial"/>
                <a:cs typeface="Arial"/>
                <a:sym typeface="Arial"/>
              </a:rPr>
              <a:t>Resultaten gäller Platsbanken och ska tolkas med försiktighet – de representerar inte alla lediga tjänster.</a:t>
            </a:r>
            <a:endParaRPr/>
          </a:p>
        </p:txBody>
      </p:sp>
      <p:sp>
        <p:nvSpPr>
          <p:cNvPr id="252" name="Google Shape;252;h20c779728fdc65f1_2_148"/>
          <p:cNvSpPr txBox="1"/>
          <p:nvPr/>
        </p:nvSpPr>
        <p:spPr>
          <a:xfrm>
            <a:off x="658368" y="6510528"/>
            <a:ext cx="8686800" cy="16459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57" name="Shape 257"/>
        <p:cNvGrpSpPr/>
        <p:nvPr/>
      </p:nvGrpSpPr>
      <p:grpSpPr>
        <a:xfrm>
          <a:off x="0" y="0"/>
          <a:ext cx="0" cy="0"/>
          <a:chOff x="0" y="0"/>
          <a:chExt cx="0" cy="0"/>
        </a:xfrm>
      </p:grpSpPr>
      <p:sp>
        <p:nvSpPr>
          <p:cNvPr id="258" name="Google Shape;258;h5350e777929d30a6_0_0"/>
          <p:cNvSpPr/>
          <p:nvPr/>
        </p:nvSpPr>
        <p:spPr>
          <a:xfrm>
            <a:off x="8065008" y="1874519"/>
            <a:ext cx="3456300" cy="1874400"/>
          </a:xfrm>
          <a:prstGeom prst="roundRect">
            <a:avLst>
              <a:gd fmla="val 16667" name="adj"/>
            </a:avLst>
          </a:prstGeom>
          <a:solidFill>
            <a:srgbClr val="FCF6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h5350e777929d30a6_0_0"/>
          <p:cNvSpPr/>
          <p:nvPr/>
        </p:nvSpPr>
        <p:spPr>
          <a:xfrm>
            <a:off x="4361688" y="1874519"/>
            <a:ext cx="3456300" cy="1874400"/>
          </a:xfrm>
          <a:prstGeom prst="roundRect">
            <a:avLst>
              <a:gd fmla="val 16667" name="adj"/>
            </a:avLst>
          </a:prstGeom>
          <a:solidFill>
            <a:srgbClr val="E1F3E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0" name="Google Shape;260;h5350e777929d30a6_0_0"/>
          <p:cNvSpPr/>
          <p:nvPr/>
        </p:nvSpPr>
        <p:spPr>
          <a:xfrm>
            <a:off x="658368" y="1874519"/>
            <a:ext cx="3456300" cy="1874400"/>
          </a:xfrm>
          <a:prstGeom prst="roundRect">
            <a:avLst>
              <a:gd fmla="val 16667" name="adj"/>
            </a:avLst>
          </a:prstGeom>
          <a:solidFill>
            <a:srgbClr val="E4EDF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1" name="Google Shape;261;h5350e777929d30a6_0_0"/>
          <p:cNvSpPr txBox="1"/>
          <p:nvPr/>
        </p:nvSpPr>
        <p:spPr>
          <a:xfrm>
            <a:off x="658368" y="347472"/>
            <a:ext cx="10881300" cy="418500"/>
          </a:xfrm>
          <a:prstGeom prst="rect">
            <a:avLst/>
          </a:prstGeom>
          <a:noFill/>
          <a:ln>
            <a:noFill/>
          </a:ln>
        </p:spPr>
        <p:txBody>
          <a:bodyPr anchorCtr="0" anchor="t" bIns="54850" lIns="54850" spcFirstLastPara="1" rIns="54850" wrap="square" tIns="54850">
            <a:spAutoFit/>
          </a:bodyPr>
          <a:lstStyle/>
          <a:p>
            <a:pPr indent="0" lvl="0" marL="0" marR="0" rtl="0" algn="l">
              <a:lnSpc>
                <a:spcPct val="100000"/>
              </a:lnSpc>
              <a:spcBef>
                <a:spcPts val="0"/>
              </a:spcBef>
              <a:spcAft>
                <a:spcPts val="0"/>
              </a:spcAft>
              <a:buClr>
                <a:srgbClr val="000000"/>
              </a:buClr>
              <a:buFont typeface="Arial"/>
              <a:buNone/>
            </a:pPr>
            <a:r>
              <a:rPr b="1" lang="sv-SE" sz="1000">
                <a:solidFill>
                  <a:srgbClr val="1E8E87"/>
                </a:solidFill>
              </a:rPr>
              <a:t>MODELLER OCH METODVAL</a:t>
            </a:r>
            <a:endParaRPr b="1" sz="1000">
              <a:solidFill>
                <a:srgbClr val="1E8E87"/>
              </a:solidFill>
            </a:endParaRPr>
          </a:p>
          <a:p>
            <a:pPr indent="0" lvl="0" marL="0" marR="0" rtl="0" algn="l">
              <a:lnSpc>
                <a:spcPct val="100000"/>
              </a:lnSpc>
              <a:spcBef>
                <a:spcPts val="0"/>
              </a:spcBef>
              <a:spcAft>
                <a:spcPts val="0"/>
              </a:spcAft>
              <a:buNone/>
            </a:pPr>
            <a:r>
              <a:t/>
            </a:r>
            <a:endParaRPr b="1" sz="1000">
              <a:solidFill>
                <a:srgbClr val="1E8E87"/>
              </a:solidFill>
            </a:endParaRPr>
          </a:p>
        </p:txBody>
      </p:sp>
      <p:sp>
        <p:nvSpPr>
          <p:cNvPr id="262" name="Google Shape;262;h5350e777929d30a6_0_0"/>
          <p:cNvSpPr txBox="1"/>
          <p:nvPr/>
        </p:nvSpPr>
        <p:spPr>
          <a:xfrm>
            <a:off x="658368" y="704088"/>
            <a:ext cx="10972800" cy="5418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2800">
                <a:solidFill>
                  <a:srgbClr val="14243B"/>
                </a:solidFill>
              </a:rPr>
              <a:t>Från enkel baseline till EntityRuler</a:t>
            </a:r>
            <a:endParaRPr/>
          </a:p>
        </p:txBody>
      </p:sp>
      <p:sp>
        <p:nvSpPr>
          <p:cNvPr id="263" name="Google Shape;263;h5350e777929d30a6_0_0"/>
          <p:cNvSpPr txBox="1"/>
          <p:nvPr/>
        </p:nvSpPr>
        <p:spPr>
          <a:xfrm>
            <a:off x="685800" y="1307592"/>
            <a:ext cx="10789800" cy="3108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lang="sv-SE" sz="1300">
                <a:solidFill>
                  <a:srgbClr val="5B6979"/>
                </a:solidFill>
              </a:rPr>
              <a:t>Två regelbaserade sätt att </a:t>
            </a:r>
            <a:r>
              <a:rPr lang="sv-SE" sz="1300">
                <a:solidFill>
                  <a:srgbClr val="5B6979"/>
                </a:solidFill>
              </a:rPr>
              <a:t>identifiera</a:t>
            </a:r>
            <a:r>
              <a:rPr lang="sv-SE" sz="1300">
                <a:solidFill>
                  <a:srgbClr val="5B6979"/>
                </a:solidFill>
              </a:rPr>
              <a:t> kompetenser i jobbannonser.</a:t>
            </a:r>
            <a:endParaRPr/>
          </a:p>
        </p:txBody>
      </p:sp>
      <p:sp>
        <p:nvSpPr>
          <p:cNvPr id="264" name="Google Shape;264;h5350e777929d30a6_0_0"/>
          <p:cNvSpPr txBox="1"/>
          <p:nvPr/>
        </p:nvSpPr>
        <p:spPr>
          <a:xfrm>
            <a:off x="859536" y="2011680"/>
            <a:ext cx="30906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14243B"/>
                </a:solidFill>
              </a:rPr>
              <a:t>Baseline</a:t>
            </a:r>
            <a:endParaRPr/>
          </a:p>
        </p:txBody>
      </p:sp>
      <p:sp>
        <p:nvSpPr>
          <p:cNvPr id="265" name="Google Shape;265;h5350e777929d30a6_0_0"/>
          <p:cNvSpPr txBox="1"/>
          <p:nvPr/>
        </p:nvSpPr>
        <p:spPr>
          <a:xfrm>
            <a:off x="859536" y="2441448"/>
            <a:ext cx="3090600" cy="1126800"/>
          </a:xfrm>
          <a:prstGeom prst="rect">
            <a:avLst/>
          </a:prstGeom>
          <a:noFill/>
          <a:ln>
            <a:noFill/>
          </a:ln>
        </p:spPr>
        <p:txBody>
          <a:bodyPr anchorCtr="0" anchor="t" bIns="54850" lIns="54850" spcFirstLastPara="1" rIns="54850" wrap="square" tIns="54850">
            <a:spAutoFit/>
          </a:bodyPr>
          <a:lstStyle/>
          <a:p>
            <a:pPr indent="-317500" lvl="0" marL="457200" marR="0" rtl="0" algn="l">
              <a:spcBef>
                <a:spcPts val="0"/>
              </a:spcBef>
              <a:spcAft>
                <a:spcPts val="0"/>
              </a:spcAft>
              <a:buSzPts val="1400"/>
              <a:buChar char="-"/>
            </a:pPr>
            <a:r>
              <a:rPr lang="sv-SE" sz="1300">
                <a:solidFill>
                  <a:srgbClr val="283340"/>
                </a:solidFill>
              </a:rPr>
              <a:t>Direkt matchning mot Arbetsförmedlingens taxonomi</a:t>
            </a:r>
            <a:endParaRPr sz="1300">
              <a:solidFill>
                <a:srgbClr val="283340"/>
              </a:solidFill>
            </a:endParaRPr>
          </a:p>
          <a:p>
            <a:pPr indent="-311150" lvl="0" marL="457200" marR="0" rtl="0" algn="l">
              <a:spcBef>
                <a:spcPts val="0"/>
              </a:spcBef>
              <a:spcAft>
                <a:spcPts val="0"/>
              </a:spcAft>
              <a:buClr>
                <a:srgbClr val="283340"/>
              </a:buClr>
              <a:buSzPts val="1300"/>
              <a:buChar char="-"/>
            </a:pPr>
            <a:r>
              <a:rPr lang="sv-SE" sz="1300">
                <a:solidFill>
                  <a:srgbClr val="283340"/>
                </a:solidFill>
              </a:rPr>
              <a:t>Söker efter kompetensnamn från taxonomin</a:t>
            </a:r>
            <a:endParaRPr sz="1300">
              <a:solidFill>
                <a:srgbClr val="283340"/>
              </a:solidFill>
            </a:endParaRPr>
          </a:p>
          <a:p>
            <a:pPr indent="-311150" lvl="0" marL="457200" marR="0" rtl="0" algn="l">
              <a:spcBef>
                <a:spcPts val="0"/>
              </a:spcBef>
              <a:spcAft>
                <a:spcPts val="0"/>
              </a:spcAft>
              <a:buClr>
                <a:srgbClr val="283340"/>
              </a:buClr>
              <a:buSzPts val="1300"/>
              <a:buChar char="-"/>
            </a:pPr>
            <a:r>
              <a:rPr lang="sv-SE" sz="1300">
                <a:solidFill>
                  <a:srgbClr val="283340"/>
                </a:solidFill>
              </a:rPr>
              <a:t>Enkel</a:t>
            </a:r>
            <a:r>
              <a:rPr lang="sv-SE" sz="1300">
                <a:solidFill>
                  <a:srgbClr val="283340"/>
                </a:solidFill>
              </a:rPr>
              <a:t> referenspunkt</a:t>
            </a:r>
            <a:endParaRPr sz="1300">
              <a:solidFill>
                <a:srgbClr val="283340"/>
              </a:solidFill>
            </a:endParaRPr>
          </a:p>
        </p:txBody>
      </p:sp>
      <p:sp>
        <p:nvSpPr>
          <p:cNvPr id="266" name="Google Shape;266;h5350e777929d30a6_0_0"/>
          <p:cNvSpPr txBox="1"/>
          <p:nvPr/>
        </p:nvSpPr>
        <p:spPr>
          <a:xfrm>
            <a:off x="4562855" y="2011680"/>
            <a:ext cx="30906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14243B"/>
                </a:solidFill>
              </a:rPr>
              <a:t>Förbättrad metod</a:t>
            </a:r>
            <a:endParaRPr/>
          </a:p>
        </p:txBody>
      </p:sp>
      <p:sp>
        <p:nvSpPr>
          <p:cNvPr id="267" name="Google Shape;267;h5350e777929d30a6_0_0"/>
          <p:cNvSpPr txBox="1"/>
          <p:nvPr/>
        </p:nvSpPr>
        <p:spPr>
          <a:xfrm>
            <a:off x="4562855" y="2441448"/>
            <a:ext cx="3090600" cy="1126800"/>
          </a:xfrm>
          <a:prstGeom prst="rect">
            <a:avLst/>
          </a:prstGeom>
          <a:noFill/>
          <a:ln>
            <a:noFill/>
          </a:ln>
        </p:spPr>
        <p:txBody>
          <a:bodyPr anchorCtr="0" anchor="t" bIns="54850" lIns="54850" spcFirstLastPara="1" rIns="54850" wrap="square" tIns="54850">
            <a:spAutoFit/>
          </a:bodyPr>
          <a:lstStyle/>
          <a:p>
            <a:pPr indent="-317500" lvl="0" marL="457200" marR="0" rtl="0" algn="l">
              <a:spcBef>
                <a:spcPts val="0"/>
              </a:spcBef>
              <a:spcAft>
                <a:spcPts val="0"/>
              </a:spcAft>
              <a:buSzPts val="1400"/>
              <a:buChar char="-"/>
            </a:pPr>
            <a:r>
              <a:rPr lang="sv-SE" sz="1300">
                <a:solidFill>
                  <a:srgbClr val="283340"/>
                </a:solidFill>
              </a:rPr>
              <a:t>spaCy + EntityRuler</a:t>
            </a:r>
            <a:endParaRPr sz="1300">
              <a:solidFill>
                <a:srgbClr val="283340"/>
              </a:solidFill>
            </a:endParaRPr>
          </a:p>
          <a:p>
            <a:pPr indent="-311150" lvl="0" marL="457200" marR="0" rtl="0" algn="l">
              <a:spcBef>
                <a:spcPts val="0"/>
              </a:spcBef>
              <a:spcAft>
                <a:spcPts val="0"/>
              </a:spcAft>
              <a:buClr>
                <a:srgbClr val="283340"/>
              </a:buClr>
              <a:buSzPts val="1300"/>
              <a:buChar char="-"/>
            </a:pPr>
            <a:r>
              <a:rPr lang="sv-SE" sz="1300">
                <a:solidFill>
                  <a:srgbClr val="283340"/>
                </a:solidFill>
              </a:rPr>
              <a:t>Regler + aliases + </a:t>
            </a:r>
            <a:r>
              <a:rPr lang="sv-SE" sz="1300">
                <a:solidFill>
                  <a:srgbClr val="283340"/>
                </a:solidFill>
              </a:rPr>
              <a:t>alternativt</a:t>
            </a:r>
            <a:r>
              <a:rPr lang="sv-SE" sz="1300">
                <a:solidFill>
                  <a:srgbClr val="283340"/>
                </a:solidFill>
              </a:rPr>
              <a:t> skrivsätt</a:t>
            </a:r>
            <a:endParaRPr sz="1300">
              <a:solidFill>
                <a:srgbClr val="283340"/>
              </a:solidFill>
            </a:endParaRPr>
          </a:p>
          <a:p>
            <a:pPr indent="-311150" lvl="0" marL="457200" marR="0" rtl="0" algn="l">
              <a:spcBef>
                <a:spcPts val="0"/>
              </a:spcBef>
              <a:spcAft>
                <a:spcPts val="0"/>
              </a:spcAft>
              <a:buClr>
                <a:srgbClr val="283340"/>
              </a:buClr>
              <a:buSzPts val="1300"/>
              <a:buChar char="-"/>
            </a:pPr>
            <a:r>
              <a:rPr lang="sv-SE" sz="1300">
                <a:solidFill>
                  <a:srgbClr val="283340"/>
                </a:solidFill>
              </a:rPr>
              <a:t>Normaliserar till samma kompetens</a:t>
            </a:r>
            <a:endParaRPr sz="1300">
              <a:solidFill>
                <a:srgbClr val="283340"/>
              </a:solidFill>
            </a:endParaRPr>
          </a:p>
        </p:txBody>
      </p:sp>
      <p:sp>
        <p:nvSpPr>
          <p:cNvPr id="268" name="Google Shape;268;h5350e777929d30a6_0_0"/>
          <p:cNvSpPr txBox="1"/>
          <p:nvPr/>
        </p:nvSpPr>
        <p:spPr>
          <a:xfrm>
            <a:off x="8266176" y="2011680"/>
            <a:ext cx="30906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14243B"/>
                </a:solidFill>
              </a:rPr>
              <a:t>Varför detta val?</a:t>
            </a:r>
            <a:endParaRPr/>
          </a:p>
        </p:txBody>
      </p:sp>
      <p:sp>
        <p:nvSpPr>
          <p:cNvPr id="269" name="Google Shape;269;h5350e777929d30a6_0_0"/>
          <p:cNvSpPr txBox="1"/>
          <p:nvPr/>
        </p:nvSpPr>
        <p:spPr>
          <a:xfrm>
            <a:off x="8266176" y="2441448"/>
            <a:ext cx="3090600" cy="1311300"/>
          </a:xfrm>
          <a:prstGeom prst="rect">
            <a:avLst/>
          </a:prstGeom>
          <a:noFill/>
          <a:ln>
            <a:noFill/>
          </a:ln>
        </p:spPr>
        <p:txBody>
          <a:bodyPr anchorCtr="0" anchor="t" bIns="54850" lIns="54850" spcFirstLastPara="1" rIns="54850" wrap="square" tIns="54850">
            <a:spAutoFit/>
          </a:bodyPr>
          <a:lstStyle/>
          <a:p>
            <a:pPr indent="-311150" lvl="0" marL="457200" marR="0" rtl="0" algn="l">
              <a:spcBef>
                <a:spcPts val="0"/>
              </a:spcBef>
              <a:spcAft>
                <a:spcPts val="0"/>
              </a:spcAft>
              <a:buClr>
                <a:srgbClr val="283340"/>
              </a:buClr>
              <a:buSzPts val="1300"/>
              <a:buChar char="-"/>
            </a:pPr>
            <a:r>
              <a:rPr lang="sv-SE" sz="1300">
                <a:solidFill>
                  <a:srgbClr val="283340"/>
                </a:solidFill>
              </a:rPr>
              <a:t>Jobbannonser använder många olika skrivsätt</a:t>
            </a:r>
            <a:endParaRPr sz="1300">
              <a:solidFill>
                <a:srgbClr val="283340"/>
              </a:solidFill>
            </a:endParaRPr>
          </a:p>
          <a:p>
            <a:pPr indent="-311150" lvl="0" marL="457200" marR="0" rtl="0" algn="l">
              <a:spcBef>
                <a:spcPts val="0"/>
              </a:spcBef>
              <a:spcAft>
                <a:spcPts val="0"/>
              </a:spcAft>
              <a:buClr>
                <a:srgbClr val="283340"/>
              </a:buClr>
              <a:buSzPts val="1300"/>
              <a:buChar char="-"/>
            </a:pPr>
            <a:r>
              <a:rPr lang="sv-SE" sz="1300">
                <a:solidFill>
                  <a:srgbClr val="283340"/>
                </a:solidFill>
              </a:rPr>
              <a:t>Vi ville öka träffsäkerheten utan att tappa kontroll </a:t>
            </a:r>
            <a:endParaRPr sz="1300">
              <a:solidFill>
                <a:srgbClr val="283340"/>
              </a:solidFill>
            </a:endParaRPr>
          </a:p>
          <a:p>
            <a:pPr indent="-311150" lvl="0" marL="457200" marR="0" rtl="0" algn="l">
              <a:spcBef>
                <a:spcPts val="0"/>
              </a:spcBef>
              <a:spcAft>
                <a:spcPts val="0"/>
              </a:spcAft>
              <a:buClr>
                <a:srgbClr val="283340"/>
              </a:buClr>
              <a:buSzPts val="1300"/>
              <a:buChar char="-"/>
            </a:pPr>
            <a:r>
              <a:rPr lang="sv-SE" sz="1300">
                <a:solidFill>
                  <a:srgbClr val="283340"/>
                </a:solidFill>
              </a:rPr>
              <a:t>Varje träff kan kopplas till en tydlig regel</a:t>
            </a:r>
            <a:endParaRPr sz="1300">
              <a:solidFill>
                <a:srgbClr val="283340"/>
              </a:solidFill>
            </a:endParaRPr>
          </a:p>
        </p:txBody>
      </p:sp>
      <p:sp>
        <p:nvSpPr>
          <p:cNvPr id="270" name="Google Shape;270;h5350e777929d30a6_0_0"/>
          <p:cNvSpPr/>
          <p:nvPr/>
        </p:nvSpPr>
        <p:spPr>
          <a:xfrm>
            <a:off x="658368" y="4133087"/>
            <a:ext cx="10863000" cy="1417200"/>
          </a:xfrm>
          <a:prstGeom prst="roundRect">
            <a:avLst>
              <a:gd fmla="val 16667" name="adj"/>
            </a:avLst>
          </a:prstGeom>
          <a:solidFill>
            <a:srgbClr val="14243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1" name="Google Shape;271;h5350e777929d30a6_0_0"/>
          <p:cNvSpPr txBox="1"/>
          <p:nvPr/>
        </p:nvSpPr>
        <p:spPr>
          <a:xfrm>
            <a:off x="914400" y="4370832"/>
            <a:ext cx="2057400" cy="2646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000">
                <a:solidFill>
                  <a:srgbClr val="F4B83F"/>
                </a:solidFill>
              </a:rPr>
              <a:t>FRÅGAN VI VILLE BESVARA </a:t>
            </a:r>
            <a:endParaRPr/>
          </a:p>
        </p:txBody>
      </p:sp>
      <p:sp>
        <p:nvSpPr>
          <p:cNvPr id="272" name="Google Shape;272;h5350e777929d30a6_0_0"/>
          <p:cNvSpPr txBox="1"/>
          <p:nvPr/>
        </p:nvSpPr>
        <p:spPr>
          <a:xfrm>
            <a:off x="2999232" y="4315968"/>
            <a:ext cx="80925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FFFFFF"/>
                </a:solidFill>
              </a:rPr>
              <a:t>Ger de utökade reglerna bättre täckning än den enkla baseline-metoden ?</a:t>
            </a:r>
            <a:endParaRPr/>
          </a:p>
        </p:txBody>
      </p:sp>
      <p:sp>
        <p:nvSpPr>
          <p:cNvPr id="273" name="Google Shape;273;h5350e777929d30a6_0_0"/>
          <p:cNvSpPr txBox="1"/>
          <p:nvPr/>
        </p:nvSpPr>
        <p:spPr>
          <a:xfrm>
            <a:off x="914400" y="5074920"/>
            <a:ext cx="9966900" cy="2955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lang="sv-SE" sz="1200">
                <a:solidFill>
                  <a:srgbClr val="DDE6EF"/>
                </a:solidFill>
              </a:rPr>
              <a:t>Baseline gav oss en enkel referenspunkt - EntityRuler testades för att fånga fler sätt att </a:t>
            </a:r>
            <a:r>
              <a:rPr lang="sv-SE" sz="1200">
                <a:solidFill>
                  <a:srgbClr val="DDE6EF"/>
                </a:solidFill>
              </a:rPr>
              <a:t>uttrycka</a:t>
            </a:r>
            <a:r>
              <a:rPr lang="sv-SE" sz="1200">
                <a:solidFill>
                  <a:srgbClr val="DDE6EF"/>
                </a:solidFill>
              </a:rPr>
              <a:t> samma kompetens. </a:t>
            </a:r>
            <a:endParaRPr/>
          </a:p>
        </p:txBody>
      </p:sp>
      <p:sp>
        <p:nvSpPr>
          <p:cNvPr id="274" name="Google Shape;274;h5350e777929d30a6_0_0"/>
          <p:cNvSpPr txBox="1"/>
          <p:nvPr/>
        </p:nvSpPr>
        <p:spPr>
          <a:xfrm>
            <a:off x="658368" y="6510528"/>
            <a:ext cx="8686800" cy="234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
        <p:nvSpPr>
          <p:cNvPr id="275" name="Google Shape;275;h5350e777929d30a6_0_0"/>
          <p:cNvSpPr/>
          <p:nvPr/>
        </p:nvSpPr>
        <p:spPr>
          <a:xfrm>
            <a:off x="658368" y="1984248"/>
            <a:ext cx="63900" cy="1655100"/>
          </a:xfrm>
          <a:prstGeom prst="rect">
            <a:avLst/>
          </a:prstGeom>
          <a:solidFill>
            <a:srgbClr val="36639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6" name="Google Shape;276;h5350e777929d30a6_0_0"/>
          <p:cNvSpPr/>
          <p:nvPr/>
        </p:nvSpPr>
        <p:spPr>
          <a:xfrm>
            <a:off x="4361688" y="1984248"/>
            <a:ext cx="63900" cy="1655100"/>
          </a:xfrm>
          <a:prstGeom prst="rect">
            <a:avLst/>
          </a:prstGeom>
          <a:solidFill>
            <a:srgbClr val="1E8E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h5350e777929d30a6_0_0"/>
          <p:cNvSpPr/>
          <p:nvPr/>
        </p:nvSpPr>
        <p:spPr>
          <a:xfrm>
            <a:off x="8065008" y="1984248"/>
            <a:ext cx="63900" cy="1655100"/>
          </a:xfrm>
          <a:prstGeom prst="rect">
            <a:avLst/>
          </a:prstGeom>
          <a:solidFill>
            <a:srgbClr val="F4B8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82" name="Shape 282"/>
        <p:cNvGrpSpPr/>
        <p:nvPr/>
      </p:nvGrpSpPr>
      <p:grpSpPr>
        <a:xfrm>
          <a:off x="0" y="0"/>
          <a:ext cx="0" cy="0"/>
          <a:chOff x="0" y="0"/>
          <a:chExt cx="0" cy="0"/>
        </a:xfrm>
      </p:grpSpPr>
      <p:sp>
        <p:nvSpPr>
          <p:cNvPr id="283" name="Google Shape;283;h426f5add61499a6_0_16"/>
          <p:cNvSpPr/>
          <p:nvPr/>
        </p:nvSpPr>
        <p:spPr>
          <a:xfrm>
            <a:off x="685825" y="4351190"/>
            <a:ext cx="9767100" cy="851400"/>
          </a:xfrm>
          <a:prstGeom prst="roundRect">
            <a:avLst>
              <a:gd fmla="val 16667" name="adj"/>
            </a:avLst>
          </a:prstGeom>
          <a:solidFill>
            <a:srgbClr val="FFF7E0"/>
          </a:solidFill>
          <a:ln cap="flat" cmpd="sng" w="12700">
            <a:solidFill>
              <a:srgbClr val="FFF7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4" name="Google Shape;284;h426f5add61499a6_0_16"/>
          <p:cNvSpPr/>
          <p:nvPr/>
        </p:nvSpPr>
        <p:spPr>
          <a:xfrm>
            <a:off x="685825" y="3137863"/>
            <a:ext cx="9767100" cy="851400"/>
          </a:xfrm>
          <a:prstGeom prst="roundRect">
            <a:avLst>
              <a:gd fmla="val 16667" name="adj"/>
            </a:avLst>
          </a:prstGeom>
          <a:solidFill>
            <a:srgbClr val="E0F2EF"/>
          </a:solidFill>
          <a:ln cap="flat" cmpd="sng" w="12700">
            <a:solidFill>
              <a:srgbClr val="E0F2E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h426f5add61499a6_0_16"/>
          <p:cNvSpPr/>
          <p:nvPr/>
        </p:nvSpPr>
        <p:spPr>
          <a:xfrm>
            <a:off x="685825" y="2066550"/>
            <a:ext cx="9767100" cy="851400"/>
          </a:xfrm>
          <a:prstGeom prst="roundRect">
            <a:avLst>
              <a:gd fmla="val 16667" name="adj"/>
            </a:avLst>
          </a:prstGeom>
          <a:solidFill>
            <a:srgbClr val="E4EDF7"/>
          </a:solidFill>
          <a:ln cap="flat" cmpd="sng" w="12700">
            <a:solidFill>
              <a:srgbClr val="E4ED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h426f5add61499a6_0_16"/>
          <p:cNvSpPr txBox="1"/>
          <p:nvPr/>
        </p:nvSpPr>
        <p:spPr>
          <a:xfrm>
            <a:off x="658368" y="347472"/>
            <a:ext cx="10881300" cy="249300"/>
          </a:xfrm>
          <a:prstGeom prst="rect">
            <a:avLst/>
          </a:prstGeom>
          <a:noFill/>
          <a:ln>
            <a:noFill/>
          </a:ln>
        </p:spPr>
        <p:txBody>
          <a:bodyPr anchorCtr="0" anchor="t" bIns="54850" lIns="54850" spcFirstLastPara="1" rIns="54850" wrap="square" tIns="54850">
            <a:spAutoFit/>
          </a:bodyPr>
          <a:lstStyle/>
          <a:p>
            <a:pPr indent="0" lvl="0" marL="0" rtl="0" algn="l">
              <a:spcBef>
                <a:spcPts val="0"/>
              </a:spcBef>
              <a:spcAft>
                <a:spcPts val="0"/>
              </a:spcAft>
              <a:buClr>
                <a:schemeClr val="dk1"/>
              </a:buClr>
              <a:buFont typeface="Arial"/>
              <a:buNone/>
            </a:pPr>
            <a:r>
              <a:rPr b="1" lang="sv-SE" sz="900">
                <a:solidFill>
                  <a:srgbClr val="1B8F80"/>
                </a:solidFill>
              </a:rPr>
              <a:t>UTVÄRDERING OCH RESULTAT</a:t>
            </a:r>
            <a:endParaRPr/>
          </a:p>
        </p:txBody>
      </p:sp>
      <p:sp>
        <p:nvSpPr>
          <p:cNvPr id="287" name="Google Shape;287;h426f5add61499a6_0_16"/>
          <p:cNvSpPr txBox="1"/>
          <p:nvPr/>
        </p:nvSpPr>
        <p:spPr>
          <a:xfrm>
            <a:off x="658368" y="704088"/>
            <a:ext cx="10972800" cy="526500"/>
          </a:xfrm>
          <a:prstGeom prst="rect">
            <a:avLst/>
          </a:prstGeom>
          <a:noFill/>
          <a:ln>
            <a:noFill/>
          </a:ln>
        </p:spPr>
        <p:txBody>
          <a:bodyPr anchorCtr="0" anchor="t" bIns="54850" lIns="54850" spcFirstLastPara="1" rIns="54850" wrap="square" tIns="54850">
            <a:spAutoFit/>
          </a:bodyPr>
          <a:lstStyle/>
          <a:p>
            <a:pPr indent="0" lvl="0" marL="0" rtl="0" algn="l">
              <a:spcBef>
                <a:spcPts val="0"/>
              </a:spcBef>
              <a:spcAft>
                <a:spcPts val="0"/>
              </a:spcAft>
              <a:buClr>
                <a:schemeClr val="dk1"/>
              </a:buClr>
              <a:buFont typeface="Arial"/>
              <a:buNone/>
            </a:pPr>
            <a:r>
              <a:rPr b="1" lang="sv-SE" sz="2700">
                <a:solidFill>
                  <a:srgbClr val="15263D"/>
                </a:solidFill>
              </a:rPr>
              <a:t>Så utvärderade vi metoderna</a:t>
            </a:r>
            <a:endParaRPr/>
          </a:p>
        </p:txBody>
      </p:sp>
      <p:sp>
        <p:nvSpPr>
          <p:cNvPr id="288" name="Google Shape;288;h426f5add61499a6_0_16"/>
          <p:cNvSpPr txBox="1"/>
          <p:nvPr/>
        </p:nvSpPr>
        <p:spPr>
          <a:xfrm>
            <a:off x="685800" y="1307592"/>
            <a:ext cx="10789800" cy="295500"/>
          </a:xfrm>
          <a:prstGeom prst="rect">
            <a:avLst/>
          </a:prstGeom>
          <a:noFill/>
          <a:ln>
            <a:noFill/>
          </a:ln>
        </p:spPr>
        <p:txBody>
          <a:bodyPr anchorCtr="0" anchor="t" bIns="54850" lIns="54850" spcFirstLastPara="1" rIns="54850" wrap="square" tIns="54850">
            <a:spAutoFit/>
          </a:bodyPr>
          <a:lstStyle/>
          <a:p>
            <a:pPr indent="0" lvl="0" marL="0" rtl="0" algn="l">
              <a:spcBef>
                <a:spcPts val="0"/>
              </a:spcBef>
              <a:spcAft>
                <a:spcPts val="0"/>
              </a:spcAft>
              <a:buClr>
                <a:schemeClr val="dk1"/>
              </a:buClr>
              <a:buFont typeface="Arial"/>
              <a:buNone/>
            </a:pPr>
            <a:r>
              <a:rPr lang="sv-SE" sz="1200">
                <a:solidFill>
                  <a:srgbClr val="536982"/>
                </a:solidFill>
              </a:rPr>
              <a:t>Samma testmaterial • manuellt facit • gemensamma utvärderingsmått</a:t>
            </a:r>
            <a:endParaRPr/>
          </a:p>
        </p:txBody>
      </p:sp>
      <p:sp>
        <p:nvSpPr>
          <p:cNvPr id="289" name="Google Shape;289;h426f5add61499a6_0_16"/>
          <p:cNvSpPr txBox="1"/>
          <p:nvPr/>
        </p:nvSpPr>
        <p:spPr>
          <a:xfrm>
            <a:off x="859536" y="1993392"/>
            <a:ext cx="3429000" cy="3264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t/>
            </a:r>
            <a:endParaRPr/>
          </a:p>
        </p:txBody>
      </p:sp>
      <p:sp>
        <p:nvSpPr>
          <p:cNvPr id="290" name="Google Shape;290;h426f5add61499a6_0_16"/>
          <p:cNvSpPr txBox="1"/>
          <p:nvPr/>
        </p:nvSpPr>
        <p:spPr>
          <a:xfrm>
            <a:off x="1608890" y="2479753"/>
            <a:ext cx="6035100" cy="3264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lang="sv-SE"/>
              <a:t>Vi körde båda metoderna på samma 192 jobbannonser. </a:t>
            </a:r>
            <a:endParaRPr/>
          </a:p>
        </p:txBody>
      </p:sp>
      <p:sp>
        <p:nvSpPr>
          <p:cNvPr id="291" name="Google Shape;291;h426f5add61499a6_0_16"/>
          <p:cNvSpPr/>
          <p:nvPr/>
        </p:nvSpPr>
        <p:spPr>
          <a:xfrm>
            <a:off x="974003" y="2290778"/>
            <a:ext cx="384000" cy="384000"/>
          </a:xfrm>
          <a:prstGeom prst="ellipse">
            <a:avLst/>
          </a:prstGeom>
          <a:solidFill>
            <a:srgbClr val="1E8E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2" name="Google Shape;292;h426f5add61499a6_0_16"/>
          <p:cNvSpPr txBox="1"/>
          <p:nvPr/>
        </p:nvSpPr>
        <p:spPr>
          <a:xfrm>
            <a:off x="973991" y="2358136"/>
            <a:ext cx="384000" cy="2493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01</a:t>
            </a:r>
            <a:endParaRPr/>
          </a:p>
        </p:txBody>
      </p:sp>
      <p:sp>
        <p:nvSpPr>
          <p:cNvPr id="293" name="Google Shape;293;h426f5add61499a6_0_16"/>
          <p:cNvSpPr txBox="1"/>
          <p:nvPr/>
        </p:nvSpPr>
        <p:spPr>
          <a:xfrm>
            <a:off x="1608895" y="2199639"/>
            <a:ext cx="1996800" cy="3417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500">
                <a:solidFill>
                  <a:srgbClr val="14243B"/>
                </a:solidFill>
              </a:rPr>
              <a:t>Samma annonser</a:t>
            </a:r>
            <a:endParaRPr/>
          </a:p>
        </p:txBody>
      </p:sp>
      <p:sp>
        <p:nvSpPr>
          <p:cNvPr id="294" name="Google Shape;294;h426f5add61499a6_0_16"/>
          <p:cNvSpPr txBox="1"/>
          <p:nvPr/>
        </p:nvSpPr>
        <p:spPr>
          <a:xfrm>
            <a:off x="6839712" y="2386584"/>
            <a:ext cx="4206300" cy="3264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t/>
            </a:r>
            <a:endParaRPr/>
          </a:p>
        </p:txBody>
      </p:sp>
      <p:sp>
        <p:nvSpPr>
          <p:cNvPr id="295" name="Google Shape;295;h426f5add61499a6_0_16"/>
          <p:cNvSpPr/>
          <p:nvPr/>
        </p:nvSpPr>
        <p:spPr>
          <a:xfrm>
            <a:off x="974003" y="3362459"/>
            <a:ext cx="384000" cy="384000"/>
          </a:xfrm>
          <a:prstGeom prst="ellipse">
            <a:avLst/>
          </a:prstGeom>
          <a:solidFill>
            <a:srgbClr val="1E8E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6" name="Google Shape;296;h426f5add61499a6_0_16"/>
          <p:cNvSpPr txBox="1"/>
          <p:nvPr/>
        </p:nvSpPr>
        <p:spPr>
          <a:xfrm>
            <a:off x="974000" y="3429797"/>
            <a:ext cx="384000" cy="2493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02</a:t>
            </a:r>
            <a:endParaRPr/>
          </a:p>
        </p:txBody>
      </p:sp>
      <p:sp>
        <p:nvSpPr>
          <p:cNvPr id="297" name="Google Shape;297;h426f5add61499a6_0_16"/>
          <p:cNvSpPr txBox="1"/>
          <p:nvPr/>
        </p:nvSpPr>
        <p:spPr>
          <a:xfrm>
            <a:off x="1608900" y="3292500"/>
            <a:ext cx="2453400" cy="3417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500">
                <a:solidFill>
                  <a:srgbClr val="14243B"/>
                </a:solidFill>
              </a:rPr>
              <a:t>Jämförelse med facit</a:t>
            </a:r>
            <a:endParaRPr/>
          </a:p>
        </p:txBody>
      </p:sp>
      <p:sp>
        <p:nvSpPr>
          <p:cNvPr id="298" name="Google Shape;298;h426f5add61499a6_0_16"/>
          <p:cNvSpPr txBox="1"/>
          <p:nvPr/>
        </p:nvSpPr>
        <p:spPr>
          <a:xfrm>
            <a:off x="1608900" y="3604750"/>
            <a:ext cx="5850600" cy="3108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lang="sv-SE" sz="1300">
                <a:solidFill>
                  <a:srgbClr val="283340"/>
                </a:solidFill>
              </a:rPr>
              <a:t>Vi jämförde metodernas träffar med kompetenser som markerats manuellt. </a:t>
            </a:r>
            <a:endParaRPr/>
          </a:p>
        </p:txBody>
      </p:sp>
      <p:sp>
        <p:nvSpPr>
          <p:cNvPr id="299" name="Google Shape;299;h426f5add61499a6_0_16"/>
          <p:cNvSpPr/>
          <p:nvPr/>
        </p:nvSpPr>
        <p:spPr>
          <a:xfrm>
            <a:off x="974003" y="4522964"/>
            <a:ext cx="384000" cy="384000"/>
          </a:xfrm>
          <a:prstGeom prst="ellipse">
            <a:avLst/>
          </a:prstGeom>
          <a:solidFill>
            <a:srgbClr val="1E8E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0" name="Google Shape;300;h426f5add61499a6_0_16"/>
          <p:cNvSpPr txBox="1"/>
          <p:nvPr/>
        </p:nvSpPr>
        <p:spPr>
          <a:xfrm>
            <a:off x="974003" y="4590322"/>
            <a:ext cx="384000" cy="2493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sv-SE" sz="900" u="none" cap="none" strike="noStrike">
                <a:solidFill>
                  <a:srgbClr val="FFFFFF"/>
                </a:solidFill>
                <a:latin typeface="Arial"/>
                <a:ea typeface="Arial"/>
                <a:cs typeface="Arial"/>
                <a:sym typeface="Arial"/>
              </a:rPr>
              <a:t>03</a:t>
            </a:r>
            <a:endParaRPr/>
          </a:p>
        </p:txBody>
      </p:sp>
      <p:sp>
        <p:nvSpPr>
          <p:cNvPr id="301" name="Google Shape;301;h426f5add61499a6_0_16"/>
          <p:cNvSpPr txBox="1"/>
          <p:nvPr/>
        </p:nvSpPr>
        <p:spPr>
          <a:xfrm>
            <a:off x="1514575" y="4464950"/>
            <a:ext cx="2547600" cy="3417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500">
                <a:solidFill>
                  <a:srgbClr val="14243B"/>
                </a:solidFill>
              </a:rPr>
              <a:t>Utvärderingsmått</a:t>
            </a:r>
            <a:endParaRPr/>
          </a:p>
        </p:txBody>
      </p:sp>
      <p:sp>
        <p:nvSpPr>
          <p:cNvPr id="302" name="Google Shape;302;h426f5add61499a6_0_16"/>
          <p:cNvSpPr txBox="1"/>
          <p:nvPr/>
        </p:nvSpPr>
        <p:spPr>
          <a:xfrm>
            <a:off x="1514570" y="4807348"/>
            <a:ext cx="5850600" cy="3108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lang="sv-SE" sz="1300">
                <a:solidFill>
                  <a:schemeClr val="dk1"/>
                </a:solidFill>
              </a:rPr>
              <a:t>Precision </a:t>
            </a:r>
            <a:r>
              <a:rPr lang="sv-SE" sz="1200">
                <a:solidFill>
                  <a:schemeClr val="dk1"/>
                </a:solidFill>
              </a:rPr>
              <a:t> •  Recall  •  F1-score </a:t>
            </a:r>
            <a:endParaRPr>
              <a:solidFill>
                <a:schemeClr val="dk1"/>
              </a:solidFill>
            </a:endParaRPr>
          </a:p>
        </p:txBody>
      </p:sp>
      <p:sp>
        <p:nvSpPr>
          <p:cNvPr id="303" name="Google Shape;303;h426f5add61499a6_0_16"/>
          <p:cNvSpPr txBox="1"/>
          <p:nvPr/>
        </p:nvSpPr>
        <p:spPr>
          <a:xfrm>
            <a:off x="4901184" y="5257800"/>
            <a:ext cx="6172200" cy="3264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t/>
            </a:r>
            <a:endParaRPr/>
          </a:p>
        </p:txBody>
      </p:sp>
      <p:sp>
        <p:nvSpPr>
          <p:cNvPr id="304" name="Google Shape;304;h426f5add61499a6_0_16"/>
          <p:cNvSpPr txBox="1"/>
          <p:nvPr/>
        </p:nvSpPr>
        <p:spPr>
          <a:xfrm>
            <a:off x="658368" y="6510528"/>
            <a:ext cx="8686800" cy="234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
        <p:nvSpPr>
          <p:cNvPr id="305" name="Google Shape;305;h426f5add61499a6_0_16"/>
          <p:cNvSpPr txBox="1"/>
          <p:nvPr/>
        </p:nvSpPr>
        <p:spPr>
          <a:xfrm>
            <a:off x="653725" y="1783990"/>
            <a:ext cx="3840600" cy="209400"/>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1" i="0" lang="sv-SE" sz="1000" u="none" cap="none" strike="noStrike">
                <a:solidFill>
                  <a:srgbClr val="1B8F80"/>
                </a:solidFill>
                <a:latin typeface="Arial"/>
                <a:ea typeface="Arial"/>
                <a:cs typeface="Arial"/>
                <a:sym typeface="Arial"/>
              </a:rPr>
              <a:t>TESTUPPLÄGG</a:t>
            </a:r>
            <a:endParaRPr/>
          </a:p>
        </p:txBody>
      </p:sp>
      <p:sp>
        <p:nvSpPr>
          <p:cNvPr id="306" name="Google Shape;306;h426f5add61499a6_0_16"/>
          <p:cNvSpPr/>
          <p:nvPr/>
        </p:nvSpPr>
        <p:spPr>
          <a:xfrm>
            <a:off x="685800" y="2066550"/>
            <a:ext cx="63900" cy="776100"/>
          </a:xfrm>
          <a:prstGeom prst="rect">
            <a:avLst/>
          </a:prstGeom>
          <a:solidFill>
            <a:srgbClr val="316599"/>
          </a:solidFill>
          <a:ln cap="flat" cmpd="sng" w="12700">
            <a:solidFill>
              <a:srgbClr val="3165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7" name="Google Shape;307;h426f5add61499a6_0_16"/>
          <p:cNvSpPr/>
          <p:nvPr/>
        </p:nvSpPr>
        <p:spPr>
          <a:xfrm>
            <a:off x="685800" y="3104975"/>
            <a:ext cx="63900" cy="776100"/>
          </a:xfrm>
          <a:prstGeom prst="rect">
            <a:avLst/>
          </a:prstGeom>
          <a:solidFill>
            <a:srgbClr val="1B8F80"/>
          </a:solidFill>
          <a:ln cap="flat" cmpd="sng" w="12700">
            <a:solidFill>
              <a:srgbClr val="1B8F8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8" name="Google Shape;308;h426f5add61499a6_0_16"/>
          <p:cNvSpPr/>
          <p:nvPr/>
        </p:nvSpPr>
        <p:spPr>
          <a:xfrm>
            <a:off x="685800" y="4341975"/>
            <a:ext cx="63900" cy="776100"/>
          </a:xfrm>
          <a:prstGeom prst="rect">
            <a:avLst/>
          </a:prstGeom>
          <a:solidFill>
            <a:srgbClr val="F6B934"/>
          </a:solidFill>
          <a:ln cap="flat" cmpd="sng" w="12700">
            <a:solidFill>
              <a:srgbClr val="F6B9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9" name="Google Shape;309;h426f5add61499a6_0_16"/>
          <p:cNvSpPr/>
          <p:nvPr/>
        </p:nvSpPr>
        <p:spPr>
          <a:xfrm>
            <a:off x="685800" y="5440680"/>
            <a:ext cx="10744200" cy="621900"/>
          </a:xfrm>
          <a:prstGeom prst="roundRect">
            <a:avLst>
              <a:gd fmla="val 16667" name="adj"/>
            </a:avLst>
          </a:prstGeom>
          <a:solidFill>
            <a:srgbClr val="15263D"/>
          </a:solidFill>
          <a:ln cap="flat" cmpd="sng" w="12700">
            <a:solidFill>
              <a:srgbClr val="15263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0" name="Google Shape;310;h426f5add61499a6_0_16"/>
          <p:cNvSpPr txBox="1"/>
          <p:nvPr/>
        </p:nvSpPr>
        <p:spPr>
          <a:xfrm>
            <a:off x="1608900" y="5549973"/>
            <a:ext cx="840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sv-SE">
                <a:solidFill>
                  <a:schemeClr val="lt1"/>
                </a:solidFill>
              </a:rPr>
              <a:t>Vi granskade falska träffar (FP) och missade kompetenser (FN).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14" name="Shape 314"/>
        <p:cNvGrpSpPr/>
        <p:nvPr/>
      </p:nvGrpSpPr>
      <p:grpSpPr>
        <a:xfrm>
          <a:off x="0" y="0"/>
          <a:ext cx="0" cy="0"/>
          <a:chOff x="0" y="0"/>
          <a:chExt cx="0" cy="0"/>
        </a:xfrm>
      </p:grpSpPr>
      <p:sp>
        <p:nvSpPr>
          <p:cNvPr id="315" name="Google Shape;315;h66a306fed6536801_1_23"/>
          <p:cNvSpPr txBox="1"/>
          <p:nvPr/>
        </p:nvSpPr>
        <p:spPr>
          <a:xfrm>
            <a:off x="658368" y="256032"/>
            <a:ext cx="5669400" cy="1938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Clr>
                <a:schemeClr val="dk1"/>
              </a:buClr>
              <a:buFont typeface="Arial"/>
              <a:buNone/>
            </a:pPr>
            <a:r>
              <a:rPr b="1" lang="sv-SE" sz="900">
                <a:solidFill>
                  <a:srgbClr val="1B8F80"/>
                </a:solidFill>
              </a:rPr>
              <a:t>UTVÄRDERING OCH RESULTAT</a:t>
            </a:r>
            <a:endParaRPr/>
          </a:p>
        </p:txBody>
      </p:sp>
      <p:sp>
        <p:nvSpPr>
          <p:cNvPr id="316" name="Google Shape;316;h66a306fed6536801_1_23"/>
          <p:cNvSpPr txBox="1"/>
          <p:nvPr/>
        </p:nvSpPr>
        <p:spPr>
          <a:xfrm>
            <a:off x="658368" y="530352"/>
            <a:ext cx="10972800" cy="502920"/>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1" i="0" lang="sv-SE" sz="2700" u="none" cap="none" strike="noStrike">
                <a:solidFill>
                  <a:srgbClr val="15263D"/>
                </a:solidFill>
                <a:latin typeface="Arial"/>
                <a:ea typeface="Arial"/>
                <a:cs typeface="Arial"/>
                <a:sym typeface="Arial"/>
              </a:rPr>
              <a:t>EntityRuler hittade fler kompetenser</a:t>
            </a:r>
            <a:endParaRPr/>
          </a:p>
        </p:txBody>
      </p:sp>
      <p:sp>
        <p:nvSpPr>
          <p:cNvPr id="317" name="Google Shape;317;h66a306fed6536801_1_23"/>
          <p:cNvSpPr txBox="1"/>
          <p:nvPr/>
        </p:nvSpPr>
        <p:spPr>
          <a:xfrm>
            <a:off x="685800" y="1069848"/>
            <a:ext cx="10698480" cy="274320"/>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0" i="0" lang="sv-SE" sz="1200" u="none" cap="none" strike="noStrike">
                <a:solidFill>
                  <a:srgbClr val="536982"/>
                </a:solidFill>
                <a:latin typeface="Arial"/>
                <a:ea typeface="Arial"/>
                <a:cs typeface="Arial"/>
                <a:sym typeface="Arial"/>
              </a:rPr>
              <a:t>Utvärdering på 192 manuellt annoterade annonser</a:t>
            </a:r>
            <a:endParaRPr/>
          </a:p>
        </p:txBody>
      </p:sp>
      <p:sp>
        <p:nvSpPr>
          <p:cNvPr id="318" name="Google Shape;318;h66a306fed6536801_1_23"/>
          <p:cNvSpPr txBox="1"/>
          <p:nvPr/>
        </p:nvSpPr>
        <p:spPr>
          <a:xfrm>
            <a:off x="731520" y="1783080"/>
            <a:ext cx="1920240" cy="201168"/>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1" i="0" lang="sv-SE" sz="1000" u="none" cap="none" strike="noStrike">
                <a:solidFill>
                  <a:srgbClr val="536982"/>
                </a:solidFill>
                <a:latin typeface="Arial"/>
                <a:ea typeface="Arial"/>
                <a:cs typeface="Arial"/>
                <a:sym typeface="Arial"/>
              </a:rPr>
              <a:t>F1-SCORE</a:t>
            </a:r>
            <a:endParaRPr/>
          </a:p>
        </p:txBody>
      </p:sp>
      <p:sp>
        <p:nvSpPr>
          <p:cNvPr id="319" name="Google Shape;319;h66a306fed6536801_1_23"/>
          <p:cNvSpPr/>
          <p:nvPr/>
        </p:nvSpPr>
        <p:spPr>
          <a:xfrm>
            <a:off x="685800" y="2048256"/>
            <a:ext cx="2331720" cy="987552"/>
          </a:xfrm>
          <a:prstGeom prst="roundRect">
            <a:avLst>
              <a:gd fmla="val 16667" name="adj"/>
            </a:avLst>
          </a:prstGeom>
          <a:solidFill>
            <a:srgbClr val="15263D"/>
          </a:solidFill>
          <a:ln cap="flat" cmpd="sng" w="12700">
            <a:solidFill>
              <a:srgbClr val="1526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0" name="Google Shape;320;h66a306fed6536801_1_23"/>
          <p:cNvSpPr txBox="1"/>
          <p:nvPr/>
        </p:nvSpPr>
        <p:spPr>
          <a:xfrm>
            <a:off x="822960" y="2194560"/>
            <a:ext cx="2057400" cy="411480"/>
          </a:xfrm>
          <a:prstGeom prst="rect">
            <a:avLst/>
          </a:prstGeom>
          <a:noFill/>
          <a:ln>
            <a:noFill/>
          </a:ln>
        </p:spPr>
        <p:txBody>
          <a:bodyPr anchorCtr="0" anchor="ctr" bIns="27425" lIns="27425" spcFirstLastPara="1" rIns="27425" wrap="square" tIns="27425">
            <a:spAutoFit/>
          </a:bodyPr>
          <a:lstStyle/>
          <a:p>
            <a:pPr indent="0" lvl="0" marL="0" marR="0" rtl="0" algn="ctr">
              <a:spcBef>
                <a:spcPts val="0"/>
              </a:spcBef>
              <a:spcAft>
                <a:spcPts val="0"/>
              </a:spcAft>
              <a:buNone/>
            </a:pPr>
            <a:r>
              <a:rPr b="1" i="0" lang="sv-SE" sz="2800" u="none" cap="none" strike="noStrike">
                <a:solidFill>
                  <a:srgbClr val="FFFFFF"/>
                </a:solidFill>
                <a:latin typeface="Arial"/>
                <a:ea typeface="Arial"/>
                <a:cs typeface="Arial"/>
                <a:sym typeface="Arial"/>
              </a:rPr>
              <a:t>31,3 %</a:t>
            </a:r>
            <a:endParaRPr/>
          </a:p>
        </p:txBody>
      </p:sp>
      <p:sp>
        <p:nvSpPr>
          <p:cNvPr id="321" name="Google Shape;321;h66a306fed6536801_1_23"/>
          <p:cNvSpPr txBox="1"/>
          <p:nvPr/>
        </p:nvSpPr>
        <p:spPr>
          <a:xfrm>
            <a:off x="822960" y="2633472"/>
            <a:ext cx="2057400" cy="201168"/>
          </a:xfrm>
          <a:prstGeom prst="rect">
            <a:avLst/>
          </a:prstGeom>
          <a:noFill/>
          <a:ln>
            <a:noFill/>
          </a:ln>
        </p:spPr>
        <p:txBody>
          <a:bodyPr anchorCtr="0" anchor="t" bIns="27425" lIns="27425" spcFirstLastPara="1" rIns="27425" wrap="square" tIns="27425">
            <a:spAutoFit/>
          </a:bodyPr>
          <a:lstStyle/>
          <a:p>
            <a:pPr indent="0" lvl="0" marL="0" marR="0" rtl="0" algn="ctr">
              <a:spcBef>
                <a:spcPts val="0"/>
              </a:spcBef>
              <a:spcAft>
                <a:spcPts val="0"/>
              </a:spcAft>
              <a:buNone/>
            </a:pPr>
            <a:r>
              <a:rPr b="0" i="0" lang="sv-SE" sz="1100" u="none" cap="none" strike="noStrike">
                <a:solidFill>
                  <a:srgbClr val="FFFFFF"/>
                </a:solidFill>
                <a:latin typeface="Arial"/>
                <a:ea typeface="Arial"/>
                <a:cs typeface="Arial"/>
                <a:sym typeface="Arial"/>
              </a:rPr>
              <a:t>EntityRuler</a:t>
            </a:r>
            <a:endParaRPr/>
          </a:p>
        </p:txBody>
      </p:sp>
      <p:sp>
        <p:nvSpPr>
          <p:cNvPr id="322" name="Google Shape;322;h66a306fed6536801_1_23"/>
          <p:cNvSpPr/>
          <p:nvPr/>
        </p:nvSpPr>
        <p:spPr>
          <a:xfrm>
            <a:off x="685800" y="3182112"/>
            <a:ext cx="2331720" cy="640080"/>
          </a:xfrm>
          <a:prstGeom prst="roundRect">
            <a:avLst>
              <a:gd fmla="val 16667" name="adj"/>
            </a:avLst>
          </a:prstGeom>
          <a:solidFill>
            <a:srgbClr val="E4EDF7"/>
          </a:solidFill>
          <a:ln cap="flat" cmpd="sng" w="12700">
            <a:solidFill>
              <a:srgbClr val="E4ED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3" name="Google Shape;323;h66a306fed6536801_1_23"/>
          <p:cNvSpPr txBox="1"/>
          <p:nvPr/>
        </p:nvSpPr>
        <p:spPr>
          <a:xfrm>
            <a:off x="822960" y="3364992"/>
            <a:ext cx="2057400" cy="256032"/>
          </a:xfrm>
          <a:prstGeom prst="rect">
            <a:avLst/>
          </a:prstGeom>
          <a:noFill/>
          <a:ln>
            <a:noFill/>
          </a:ln>
        </p:spPr>
        <p:txBody>
          <a:bodyPr anchorCtr="0" anchor="ctr" bIns="27425" lIns="27425" spcFirstLastPara="1" rIns="27425" wrap="square" tIns="27425">
            <a:spAutoFit/>
          </a:bodyPr>
          <a:lstStyle/>
          <a:p>
            <a:pPr indent="0" lvl="0" marL="0" marR="0" rtl="0" algn="ctr">
              <a:spcBef>
                <a:spcPts val="0"/>
              </a:spcBef>
              <a:spcAft>
                <a:spcPts val="0"/>
              </a:spcAft>
              <a:buNone/>
            </a:pPr>
            <a:r>
              <a:rPr b="1" i="0" lang="sv-SE" sz="1500" u="none" cap="none" strike="noStrike">
                <a:solidFill>
                  <a:srgbClr val="316599"/>
                </a:solidFill>
                <a:latin typeface="Arial"/>
                <a:ea typeface="Arial"/>
                <a:cs typeface="Arial"/>
                <a:sym typeface="Arial"/>
              </a:rPr>
              <a:t>3,6 %  •  baseline</a:t>
            </a:r>
            <a:endParaRPr/>
          </a:p>
        </p:txBody>
      </p:sp>
      <p:sp>
        <p:nvSpPr>
          <p:cNvPr id="324" name="Google Shape;324;h66a306fed6536801_1_23"/>
          <p:cNvSpPr txBox="1"/>
          <p:nvPr/>
        </p:nvSpPr>
        <p:spPr>
          <a:xfrm>
            <a:off x="731520" y="4069080"/>
            <a:ext cx="1920240" cy="201168"/>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1" i="0" lang="sv-SE" sz="1000" u="none" cap="none" strike="noStrike">
                <a:solidFill>
                  <a:srgbClr val="536982"/>
                </a:solidFill>
                <a:latin typeface="Arial"/>
                <a:ea typeface="Arial"/>
                <a:cs typeface="Arial"/>
                <a:sym typeface="Arial"/>
              </a:rPr>
              <a:t>RECALL</a:t>
            </a:r>
            <a:endParaRPr/>
          </a:p>
        </p:txBody>
      </p:sp>
      <p:sp>
        <p:nvSpPr>
          <p:cNvPr id="325" name="Google Shape;325;h66a306fed6536801_1_23"/>
          <p:cNvSpPr txBox="1"/>
          <p:nvPr/>
        </p:nvSpPr>
        <p:spPr>
          <a:xfrm>
            <a:off x="731520" y="4325112"/>
            <a:ext cx="2011680" cy="365760"/>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1" i="0" lang="sv-SE" sz="2500" u="none" cap="none" strike="noStrike">
                <a:solidFill>
                  <a:srgbClr val="1B8F80"/>
                </a:solidFill>
                <a:latin typeface="Arial"/>
                <a:ea typeface="Arial"/>
                <a:cs typeface="Arial"/>
                <a:sym typeface="Arial"/>
              </a:rPr>
              <a:t>21,0 %</a:t>
            </a:r>
            <a:endParaRPr/>
          </a:p>
        </p:txBody>
      </p:sp>
      <p:sp>
        <p:nvSpPr>
          <p:cNvPr id="326" name="Google Shape;326;h66a306fed6536801_1_23"/>
          <p:cNvSpPr txBox="1"/>
          <p:nvPr/>
        </p:nvSpPr>
        <p:spPr>
          <a:xfrm>
            <a:off x="731520" y="4709160"/>
            <a:ext cx="2011680" cy="219456"/>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0" i="0" lang="sv-SE" sz="1100" u="none" cap="none" strike="noStrike">
                <a:solidFill>
                  <a:srgbClr val="536982"/>
                </a:solidFill>
                <a:latin typeface="Arial"/>
                <a:ea typeface="Arial"/>
                <a:cs typeface="Arial"/>
                <a:sym typeface="Arial"/>
              </a:rPr>
              <a:t>baseline: 1,9 %</a:t>
            </a:r>
            <a:endParaRPr/>
          </a:p>
        </p:txBody>
      </p:sp>
      <p:sp>
        <p:nvSpPr>
          <p:cNvPr id="327" name="Google Shape;327;h66a306fed6536801_1_23"/>
          <p:cNvSpPr/>
          <p:nvPr/>
        </p:nvSpPr>
        <p:spPr>
          <a:xfrm>
            <a:off x="4173340" y="1307592"/>
            <a:ext cx="7256660" cy="3858768"/>
          </a:xfrm>
          <a:prstGeom prst="roundRect">
            <a:avLst>
              <a:gd fmla="val 16667" name="adj"/>
            </a:avLst>
          </a:prstGeom>
          <a:solidFill>
            <a:srgbClr val="FFFFFF"/>
          </a:solidFill>
          <a:ln cap="flat" cmpd="sng" w="13950">
            <a:solidFill>
              <a:srgbClr val="DAE2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8" name="Google Shape;328;h66a306fed6536801_1_23"/>
          <p:cNvSpPr txBox="1"/>
          <p:nvPr/>
        </p:nvSpPr>
        <p:spPr>
          <a:xfrm>
            <a:off x="7123175" y="3168396"/>
            <a:ext cx="457200" cy="411480"/>
          </a:xfrm>
          <a:prstGeom prst="rect">
            <a:avLst/>
          </a:prstGeom>
          <a:noFill/>
          <a:ln>
            <a:noFill/>
          </a:ln>
        </p:spPr>
        <p:txBody>
          <a:bodyPr anchorCtr="0" anchor="ctr" bIns="27425" lIns="27425" spcFirstLastPara="1" rIns="27425" wrap="square" tIns="27425">
            <a:spAutoFit/>
          </a:bodyPr>
          <a:lstStyle/>
          <a:p>
            <a:pPr indent="0" lvl="0" marL="0" marR="0" rtl="0" algn="ctr">
              <a:spcBef>
                <a:spcPts val="0"/>
              </a:spcBef>
              <a:spcAft>
                <a:spcPts val="0"/>
              </a:spcAft>
              <a:buNone/>
            </a:pPr>
            <a:r>
              <a:rPr b="1" i="0" lang="sv-SE" sz="2800" u="none" cap="none" strike="noStrike">
                <a:solidFill>
                  <a:srgbClr val="1B8F80"/>
                </a:solidFill>
                <a:latin typeface="Arial"/>
                <a:ea typeface="Arial"/>
                <a:cs typeface="Arial"/>
                <a:sym typeface="Arial"/>
              </a:rPr>
              <a:t>+</a:t>
            </a:r>
            <a:endParaRPr/>
          </a:p>
        </p:txBody>
      </p:sp>
      <p:sp>
        <p:nvSpPr>
          <p:cNvPr id="329" name="Google Shape;329;h66a306fed6536801_1_23"/>
          <p:cNvSpPr/>
          <p:nvPr/>
        </p:nvSpPr>
        <p:spPr>
          <a:xfrm>
            <a:off x="685800" y="5440680"/>
            <a:ext cx="10744200" cy="621792"/>
          </a:xfrm>
          <a:prstGeom prst="roundRect">
            <a:avLst>
              <a:gd fmla="val 16667" name="adj"/>
            </a:avLst>
          </a:prstGeom>
          <a:solidFill>
            <a:srgbClr val="E4EDF7"/>
          </a:solidFill>
          <a:ln cap="flat" cmpd="sng" w="12700">
            <a:solidFill>
              <a:srgbClr val="E4ED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0" name="Google Shape;330;h66a306fed6536801_1_23"/>
          <p:cNvSpPr txBox="1"/>
          <p:nvPr/>
        </p:nvSpPr>
        <p:spPr>
          <a:xfrm>
            <a:off x="914400" y="5614416"/>
            <a:ext cx="10287000" cy="246888"/>
          </a:xfrm>
          <a:prstGeom prst="rect">
            <a:avLst/>
          </a:prstGeom>
          <a:noFill/>
          <a:ln>
            <a:noFill/>
          </a:ln>
        </p:spPr>
        <p:txBody>
          <a:bodyPr anchorCtr="0" anchor="ctr" bIns="27425" lIns="27425" spcFirstLastPara="1" rIns="27425" wrap="square" tIns="27425">
            <a:spAutoFit/>
          </a:bodyPr>
          <a:lstStyle/>
          <a:p>
            <a:pPr indent="0" lvl="0" marL="0" marR="0" rtl="0" algn="ctr">
              <a:spcBef>
                <a:spcPts val="0"/>
              </a:spcBef>
              <a:spcAft>
                <a:spcPts val="0"/>
              </a:spcAft>
              <a:buNone/>
            </a:pPr>
            <a:r>
              <a:rPr b="1" i="0" lang="sv-SE" sz="1400" u="none" cap="none" strike="noStrike">
                <a:solidFill>
                  <a:srgbClr val="15263D"/>
                </a:solidFill>
                <a:latin typeface="Arial"/>
                <a:ea typeface="Arial"/>
                <a:cs typeface="Arial"/>
                <a:sym typeface="Arial"/>
              </a:rPr>
              <a:t>Baseline hade högre precision: 69,6 % jämfört med EntityRulers 61,1 %.</a:t>
            </a:r>
            <a:endParaRPr/>
          </a:p>
        </p:txBody>
      </p:sp>
      <p:pic>
        <p:nvPicPr>
          <p:cNvPr id="331" name="Google Shape;331;h66a306fed6536801_1_23"/>
          <p:cNvPicPr preferRelativeResize="0"/>
          <p:nvPr/>
        </p:nvPicPr>
        <p:blipFill rotWithShape="1">
          <a:blip r:embed="rId3">
            <a:alphaModFix/>
          </a:blip>
          <a:srcRect b="0" l="0" r="0" t="0"/>
          <a:stretch/>
        </p:blipFill>
        <p:spPr>
          <a:xfrm>
            <a:off x="4531807" y="1436709"/>
            <a:ext cx="6539749" cy="3600536"/>
          </a:xfrm>
          <a:prstGeom prst="rect">
            <a:avLst/>
          </a:prstGeom>
          <a:noFill/>
          <a:ln>
            <a:noFill/>
          </a:ln>
        </p:spPr>
      </p:pic>
      <p:sp>
        <p:nvSpPr>
          <p:cNvPr id="332" name="Google Shape;332;h66a306fed6536801_1_23"/>
          <p:cNvSpPr txBox="1"/>
          <p:nvPr/>
        </p:nvSpPr>
        <p:spPr>
          <a:xfrm>
            <a:off x="658375" y="6513825"/>
            <a:ext cx="8686800" cy="234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36" name="Shape 336"/>
        <p:cNvGrpSpPr/>
        <p:nvPr/>
      </p:nvGrpSpPr>
      <p:grpSpPr>
        <a:xfrm>
          <a:off x="0" y="0"/>
          <a:ext cx="0" cy="0"/>
          <a:chOff x="0" y="0"/>
          <a:chExt cx="0" cy="0"/>
        </a:xfrm>
      </p:grpSpPr>
      <p:sp>
        <p:nvSpPr>
          <p:cNvPr id="337" name="Google Shape;337;h66a306fed6536801_1_44"/>
          <p:cNvSpPr txBox="1"/>
          <p:nvPr/>
        </p:nvSpPr>
        <p:spPr>
          <a:xfrm>
            <a:off x="658368" y="256032"/>
            <a:ext cx="5669400" cy="1938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Clr>
                <a:schemeClr val="dk1"/>
              </a:buClr>
              <a:buFont typeface="Arial"/>
              <a:buNone/>
            </a:pPr>
            <a:r>
              <a:rPr b="1" lang="sv-SE" sz="900">
                <a:solidFill>
                  <a:srgbClr val="1B8F80"/>
                </a:solidFill>
              </a:rPr>
              <a:t>UTVÄRDERING OCH RESULTAT</a:t>
            </a:r>
            <a:endParaRPr/>
          </a:p>
        </p:txBody>
      </p:sp>
      <p:sp>
        <p:nvSpPr>
          <p:cNvPr id="338" name="Google Shape;338;h66a306fed6536801_1_44"/>
          <p:cNvSpPr txBox="1"/>
          <p:nvPr/>
        </p:nvSpPr>
        <p:spPr>
          <a:xfrm>
            <a:off x="658368" y="530352"/>
            <a:ext cx="10972800" cy="502920"/>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1" i="0" lang="sv-SE" sz="2700" u="none" cap="none" strike="noStrike">
                <a:solidFill>
                  <a:srgbClr val="15263D"/>
                </a:solidFill>
                <a:latin typeface="Arial"/>
                <a:ea typeface="Arial"/>
                <a:cs typeface="Arial"/>
                <a:sym typeface="Arial"/>
              </a:rPr>
              <a:t>Vad visar analysen av hela datasetet?</a:t>
            </a:r>
            <a:endParaRPr/>
          </a:p>
        </p:txBody>
      </p:sp>
      <p:sp>
        <p:nvSpPr>
          <p:cNvPr id="339" name="Google Shape;339;h66a306fed6536801_1_44"/>
          <p:cNvSpPr txBox="1"/>
          <p:nvPr/>
        </p:nvSpPr>
        <p:spPr>
          <a:xfrm>
            <a:off x="685800" y="1069848"/>
            <a:ext cx="10698480" cy="274320"/>
          </a:xfrm>
          <a:prstGeom prst="rect">
            <a:avLst/>
          </a:prstGeom>
          <a:noFill/>
          <a:ln>
            <a:noFill/>
          </a:ln>
        </p:spPr>
        <p:txBody>
          <a:bodyPr anchorCtr="0" anchor="t" bIns="27425" lIns="27425" spcFirstLastPara="1" rIns="27425" wrap="square" tIns="27425">
            <a:spAutoFit/>
          </a:bodyPr>
          <a:lstStyle/>
          <a:p>
            <a:pPr indent="0" lvl="0" marL="0" marR="0" rtl="0" algn="l">
              <a:spcBef>
                <a:spcPts val="0"/>
              </a:spcBef>
              <a:spcAft>
                <a:spcPts val="0"/>
              </a:spcAft>
              <a:buNone/>
            </a:pPr>
            <a:r>
              <a:rPr b="0" i="0" lang="sv-SE" sz="1200" u="none" cap="none" strike="noStrike">
                <a:solidFill>
                  <a:srgbClr val="536982"/>
                </a:solidFill>
                <a:latin typeface="Arial"/>
                <a:ea typeface="Arial"/>
                <a:cs typeface="Arial"/>
                <a:sym typeface="Arial"/>
              </a:rPr>
              <a:t>EntityRuler kördes på hela materialet – utan facit för alla annonser</a:t>
            </a:r>
            <a:endParaRPr/>
          </a:p>
        </p:txBody>
      </p:sp>
      <p:sp>
        <p:nvSpPr>
          <p:cNvPr id="340" name="Google Shape;340;h66a306fed6536801_1_44"/>
          <p:cNvSpPr/>
          <p:nvPr/>
        </p:nvSpPr>
        <p:spPr>
          <a:xfrm>
            <a:off x="685800" y="1901952"/>
            <a:ext cx="3154680" cy="859536"/>
          </a:xfrm>
          <a:prstGeom prst="roundRect">
            <a:avLst>
              <a:gd fmla="val 16667" name="adj"/>
            </a:avLst>
          </a:prstGeom>
          <a:solidFill>
            <a:srgbClr val="E4EDF7"/>
          </a:solidFill>
          <a:ln cap="flat" cmpd="sng" w="12700">
            <a:solidFill>
              <a:srgbClr val="E4ED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1" name="Google Shape;341;h66a306fed6536801_1_44"/>
          <p:cNvSpPr/>
          <p:nvPr/>
        </p:nvSpPr>
        <p:spPr>
          <a:xfrm>
            <a:off x="685800" y="1901952"/>
            <a:ext cx="64008" cy="859536"/>
          </a:xfrm>
          <a:prstGeom prst="rect">
            <a:avLst/>
          </a:prstGeom>
          <a:solidFill>
            <a:srgbClr val="316599"/>
          </a:solidFill>
          <a:ln cap="flat" cmpd="sng" w="12700">
            <a:solidFill>
              <a:srgbClr val="31659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2" name="Google Shape;342;h66a306fed6536801_1_44"/>
          <p:cNvSpPr txBox="1"/>
          <p:nvPr/>
        </p:nvSpPr>
        <p:spPr>
          <a:xfrm>
            <a:off x="877824" y="2075688"/>
            <a:ext cx="1325880" cy="384048"/>
          </a:xfrm>
          <a:prstGeom prst="rect">
            <a:avLst/>
          </a:prstGeom>
          <a:noFill/>
          <a:ln>
            <a:noFill/>
          </a:ln>
        </p:spPr>
        <p:txBody>
          <a:bodyPr anchorCtr="0" anchor="ctr" bIns="27425" lIns="27425" spcFirstLastPara="1" rIns="27425" wrap="square" tIns="27425">
            <a:spAutoFit/>
          </a:bodyPr>
          <a:lstStyle/>
          <a:p>
            <a:pPr indent="0" lvl="0" marL="0" marR="0" rtl="0" algn="l">
              <a:spcBef>
                <a:spcPts val="0"/>
              </a:spcBef>
              <a:spcAft>
                <a:spcPts val="0"/>
              </a:spcAft>
              <a:buNone/>
            </a:pPr>
            <a:r>
              <a:rPr b="1" i="0" lang="sv-SE" sz="2100" u="none" cap="none" strike="noStrike">
                <a:solidFill>
                  <a:srgbClr val="316599"/>
                </a:solidFill>
                <a:latin typeface="Arial"/>
                <a:ea typeface="Arial"/>
                <a:cs typeface="Arial"/>
                <a:sym typeface="Arial"/>
              </a:rPr>
              <a:t>95 %</a:t>
            </a:r>
            <a:endParaRPr/>
          </a:p>
        </p:txBody>
      </p:sp>
      <p:sp>
        <p:nvSpPr>
          <p:cNvPr id="343" name="Google Shape;343;h66a306fed6536801_1_44"/>
          <p:cNvSpPr txBox="1"/>
          <p:nvPr/>
        </p:nvSpPr>
        <p:spPr>
          <a:xfrm>
            <a:off x="2240280" y="2039112"/>
            <a:ext cx="1389888" cy="512064"/>
          </a:xfrm>
          <a:prstGeom prst="rect">
            <a:avLst/>
          </a:prstGeom>
          <a:noFill/>
          <a:ln>
            <a:noFill/>
          </a:ln>
        </p:spPr>
        <p:txBody>
          <a:bodyPr anchorCtr="0" anchor="ctr" bIns="27425" lIns="27425" spcFirstLastPara="1" rIns="27425" wrap="square" tIns="27425">
            <a:spAutoFit/>
          </a:bodyPr>
          <a:lstStyle/>
          <a:p>
            <a:pPr indent="0" lvl="0" marL="0" marR="0" rtl="0" algn="l">
              <a:spcBef>
                <a:spcPts val="0"/>
              </a:spcBef>
              <a:spcAft>
                <a:spcPts val="0"/>
              </a:spcAft>
              <a:buNone/>
            </a:pPr>
            <a:r>
              <a:rPr b="0" i="0" lang="sv-SE" sz="1100" u="none" cap="none" strike="noStrike">
                <a:solidFill>
                  <a:srgbClr val="15263D"/>
                </a:solidFill>
                <a:latin typeface="Arial"/>
                <a:ea typeface="Arial"/>
                <a:cs typeface="Arial"/>
                <a:sym typeface="Arial"/>
              </a:rPr>
              <a:t>av annonserna hade</a:t>
            </a:r>
            <a:br>
              <a:rPr b="0" i="0" lang="sv-SE" sz="1100" u="none" cap="none" strike="noStrike">
                <a:solidFill>
                  <a:srgbClr val="15263D"/>
                </a:solidFill>
                <a:latin typeface="Arial"/>
                <a:ea typeface="Arial"/>
                <a:cs typeface="Arial"/>
                <a:sym typeface="Arial"/>
              </a:rPr>
            </a:br>
            <a:r>
              <a:rPr b="0" i="0" lang="sv-SE" sz="1100" u="none" cap="none" strike="noStrike">
                <a:solidFill>
                  <a:srgbClr val="15263D"/>
                </a:solidFill>
                <a:latin typeface="Arial"/>
                <a:ea typeface="Arial"/>
                <a:cs typeface="Arial"/>
                <a:sym typeface="Arial"/>
              </a:rPr>
              <a:t>minst en träff</a:t>
            </a:r>
            <a:endParaRPr/>
          </a:p>
        </p:txBody>
      </p:sp>
      <p:sp>
        <p:nvSpPr>
          <p:cNvPr id="344" name="Google Shape;344;h66a306fed6536801_1_44"/>
          <p:cNvSpPr/>
          <p:nvPr/>
        </p:nvSpPr>
        <p:spPr>
          <a:xfrm>
            <a:off x="685800" y="2999232"/>
            <a:ext cx="3154680" cy="859536"/>
          </a:xfrm>
          <a:prstGeom prst="roundRect">
            <a:avLst>
              <a:gd fmla="val 16667" name="adj"/>
            </a:avLst>
          </a:prstGeom>
          <a:solidFill>
            <a:srgbClr val="E0F2EF"/>
          </a:solidFill>
          <a:ln cap="flat" cmpd="sng" w="12700">
            <a:solidFill>
              <a:srgbClr val="E0F2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5" name="Google Shape;345;h66a306fed6536801_1_44"/>
          <p:cNvSpPr/>
          <p:nvPr/>
        </p:nvSpPr>
        <p:spPr>
          <a:xfrm>
            <a:off x="685800" y="2999232"/>
            <a:ext cx="64008" cy="859536"/>
          </a:xfrm>
          <a:prstGeom prst="rect">
            <a:avLst/>
          </a:prstGeom>
          <a:solidFill>
            <a:srgbClr val="1B8F80"/>
          </a:solidFill>
          <a:ln cap="flat" cmpd="sng" w="12700">
            <a:solidFill>
              <a:srgbClr val="1B8F8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6" name="Google Shape;346;h66a306fed6536801_1_44"/>
          <p:cNvSpPr txBox="1"/>
          <p:nvPr/>
        </p:nvSpPr>
        <p:spPr>
          <a:xfrm>
            <a:off x="877824" y="3172968"/>
            <a:ext cx="1325880" cy="384048"/>
          </a:xfrm>
          <a:prstGeom prst="rect">
            <a:avLst/>
          </a:prstGeom>
          <a:noFill/>
          <a:ln>
            <a:noFill/>
          </a:ln>
        </p:spPr>
        <p:txBody>
          <a:bodyPr anchorCtr="0" anchor="ctr" bIns="27425" lIns="27425" spcFirstLastPara="1" rIns="27425" wrap="square" tIns="27425">
            <a:spAutoFit/>
          </a:bodyPr>
          <a:lstStyle/>
          <a:p>
            <a:pPr indent="0" lvl="0" marL="0" marR="0" rtl="0" algn="l">
              <a:spcBef>
                <a:spcPts val="0"/>
              </a:spcBef>
              <a:spcAft>
                <a:spcPts val="0"/>
              </a:spcAft>
              <a:buNone/>
            </a:pPr>
            <a:r>
              <a:rPr b="1" i="0" lang="sv-SE" sz="2100" u="none" cap="none" strike="noStrike">
                <a:solidFill>
                  <a:srgbClr val="1B8F80"/>
                </a:solidFill>
                <a:latin typeface="Arial"/>
                <a:ea typeface="Arial"/>
                <a:cs typeface="Arial"/>
                <a:sym typeface="Arial"/>
              </a:rPr>
              <a:t>4,47</a:t>
            </a:r>
            <a:endParaRPr/>
          </a:p>
        </p:txBody>
      </p:sp>
      <p:sp>
        <p:nvSpPr>
          <p:cNvPr id="347" name="Google Shape;347;h66a306fed6536801_1_44"/>
          <p:cNvSpPr txBox="1"/>
          <p:nvPr/>
        </p:nvSpPr>
        <p:spPr>
          <a:xfrm>
            <a:off x="2240280" y="3136391"/>
            <a:ext cx="1389888" cy="512064"/>
          </a:xfrm>
          <a:prstGeom prst="rect">
            <a:avLst/>
          </a:prstGeom>
          <a:noFill/>
          <a:ln>
            <a:noFill/>
          </a:ln>
        </p:spPr>
        <p:txBody>
          <a:bodyPr anchorCtr="0" anchor="ctr" bIns="27425" lIns="27425" spcFirstLastPara="1" rIns="27425" wrap="square" tIns="27425">
            <a:spAutoFit/>
          </a:bodyPr>
          <a:lstStyle/>
          <a:p>
            <a:pPr indent="0" lvl="0" marL="0" marR="0" rtl="0" algn="l">
              <a:spcBef>
                <a:spcPts val="0"/>
              </a:spcBef>
              <a:spcAft>
                <a:spcPts val="0"/>
              </a:spcAft>
              <a:buNone/>
            </a:pPr>
            <a:r>
              <a:rPr b="0" i="0" lang="sv-SE" sz="1100" u="none" cap="none" strike="noStrike">
                <a:solidFill>
                  <a:srgbClr val="15263D"/>
                </a:solidFill>
                <a:latin typeface="Arial"/>
                <a:ea typeface="Arial"/>
                <a:cs typeface="Arial"/>
                <a:sym typeface="Arial"/>
              </a:rPr>
              <a:t>kompetenser per annons</a:t>
            </a:r>
            <a:br>
              <a:rPr b="0" i="0" lang="sv-SE" sz="1100" u="none" cap="none" strike="noStrike">
                <a:solidFill>
                  <a:srgbClr val="15263D"/>
                </a:solidFill>
                <a:latin typeface="Arial"/>
                <a:ea typeface="Arial"/>
                <a:cs typeface="Arial"/>
                <a:sym typeface="Arial"/>
              </a:rPr>
            </a:br>
            <a:r>
              <a:rPr b="0" i="0" lang="sv-SE" sz="1100" u="none" cap="none" strike="noStrike">
                <a:solidFill>
                  <a:srgbClr val="15263D"/>
                </a:solidFill>
                <a:latin typeface="Arial"/>
                <a:ea typeface="Arial"/>
                <a:cs typeface="Arial"/>
                <a:sym typeface="Arial"/>
              </a:rPr>
              <a:t>i genomsnitt</a:t>
            </a:r>
            <a:endParaRPr/>
          </a:p>
        </p:txBody>
      </p:sp>
      <p:sp>
        <p:nvSpPr>
          <p:cNvPr id="348" name="Google Shape;348;h66a306fed6536801_1_44"/>
          <p:cNvSpPr/>
          <p:nvPr/>
        </p:nvSpPr>
        <p:spPr>
          <a:xfrm>
            <a:off x="685800" y="4096512"/>
            <a:ext cx="3154680" cy="859536"/>
          </a:xfrm>
          <a:prstGeom prst="roundRect">
            <a:avLst>
              <a:gd fmla="val 16667" name="adj"/>
            </a:avLst>
          </a:prstGeom>
          <a:solidFill>
            <a:srgbClr val="FFF7E0"/>
          </a:solidFill>
          <a:ln cap="flat" cmpd="sng" w="12700">
            <a:solidFill>
              <a:srgbClr val="FFF7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9" name="Google Shape;349;h66a306fed6536801_1_44"/>
          <p:cNvSpPr/>
          <p:nvPr/>
        </p:nvSpPr>
        <p:spPr>
          <a:xfrm>
            <a:off x="685800" y="4096512"/>
            <a:ext cx="64008" cy="859536"/>
          </a:xfrm>
          <a:prstGeom prst="rect">
            <a:avLst/>
          </a:prstGeom>
          <a:solidFill>
            <a:srgbClr val="F6B934"/>
          </a:solidFill>
          <a:ln cap="flat" cmpd="sng" w="12700">
            <a:solidFill>
              <a:srgbClr val="F6B93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0" name="Google Shape;350;h66a306fed6536801_1_44"/>
          <p:cNvSpPr txBox="1"/>
          <p:nvPr/>
        </p:nvSpPr>
        <p:spPr>
          <a:xfrm>
            <a:off x="877824" y="4270248"/>
            <a:ext cx="1325880" cy="384048"/>
          </a:xfrm>
          <a:prstGeom prst="rect">
            <a:avLst/>
          </a:prstGeom>
          <a:noFill/>
          <a:ln>
            <a:noFill/>
          </a:ln>
        </p:spPr>
        <p:txBody>
          <a:bodyPr anchorCtr="0" anchor="ctr" bIns="27425" lIns="27425" spcFirstLastPara="1" rIns="27425" wrap="square" tIns="27425">
            <a:spAutoFit/>
          </a:bodyPr>
          <a:lstStyle/>
          <a:p>
            <a:pPr indent="0" lvl="0" marL="0" marR="0" rtl="0" algn="l">
              <a:spcBef>
                <a:spcPts val="0"/>
              </a:spcBef>
              <a:spcAft>
                <a:spcPts val="0"/>
              </a:spcAft>
              <a:buNone/>
            </a:pPr>
            <a:r>
              <a:rPr b="1" i="0" lang="sv-SE" sz="1700" u="none" cap="none" strike="noStrike">
                <a:solidFill>
                  <a:srgbClr val="F6B934"/>
                </a:solidFill>
                <a:latin typeface="Arial"/>
                <a:ea typeface="Arial"/>
                <a:cs typeface="Arial"/>
                <a:sym typeface="Arial"/>
              </a:rPr>
              <a:t>116 / 290</a:t>
            </a:r>
            <a:endParaRPr/>
          </a:p>
        </p:txBody>
      </p:sp>
      <p:sp>
        <p:nvSpPr>
          <p:cNvPr id="351" name="Google Shape;351;h66a306fed6536801_1_44"/>
          <p:cNvSpPr txBox="1"/>
          <p:nvPr/>
        </p:nvSpPr>
        <p:spPr>
          <a:xfrm>
            <a:off x="2240280" y="4233672"/>
            <a:ext cx="1389888" cy="512064"/>
          </a:xfrm>
          <a:prstGeom prst="rect">
            <a:avLst/>
          </a:prstGeom>
          <a:noFill/>
          <a:ln>
            <a:noFill/>
          </a:ln>
        </p:spPr>
        <p:txBody>
          <a:bodyPr anchorCtr="0" anchor="ctr" bIns="27425" lIns="27425" spcFirstLastPara="1" rIns="27425" wrap="square" tIns="27425">
            <a:spAutoFit/>
          </a:bodyPr>
          <a:lstStyle/>
          <a:p>
            <a:pPr indent="0" lvl="0" marL="0" marR="0" rtl="0" algn="l">
              <a:spcBef>
                <a:spcPts val="0"/>
              </a:spcBef>
              <a:spcAft>
                <a:spcPts val="0"/>
              </a:spcAft>
              <a:buNone/>
            </a:pPr>
            <a:r>
              <a:rPr b="0" i="0" lang="sv-SE" sz="1100" u="none" cap="none" strike="noStrike">
                <a:solidFill>
                  <a:srgbClr val="15263D"/>
                </a:solidFill>
                <a:latin typeface="Arial"/>
                <a:ea typeface="Arial"/>
                <a:cs typeface="Arial"/>
                <a:sym typeface="Arial"/>
              </a:rPr>
              <a:t>kompetenser gav aldrig</a:t>
            </a:r>
            <a:br>
              <a:rPr b="0" i="0" lang="sv-SE" sz="1100" u="none" cap="none" strike="noStrike">
                <a:solidFill>
                  <a:srgbClr val="15263D"/>
                </a:solidFill>
                <a:latin typeface="Arial"/>
                <a:ea typeface="Arial"/>
                <a:cs typeface="Arial"/>
                <a:sym typeface="Arial"/>
              </a:rPr>
            </a:br>
            <a:r>
              <a:rPr b="0" i="0" lang="sv-SE" sz="1100" u="none" cap="none" strike="noStrike">
                <a:solidFill>
                  <a:srgbClr val="15263D"/>
                </a:solidFill>
                <a:latin typeface="Arial"/>
                <a:ea typeface="Arial"/>
                <a:cs typeface="Arial"/>
                <a:sym typeface="Arial"/>
              </a:rPr>
              <a:t>någon träff</a:t>
            </a:r>
            <a:endParaRPr/>
          </a:p>
        </p:txBody>
      </p:sp>
      <p:sp>
        <p:nvSpPr>
          <p:cNvPr id="352" name="Google Shape;352;h66a306fed6536801_1_44"/>
          <p:cNvSpPr/>
          <p:nvPr/>
        </p:nvSpPr>
        <p:spPr>
          <a:xfrm>
            <a:off x="4160520" y="1536192"/>
            <a:ext cx="7269480" cy="3429000"/>
          </a:xfrm>
          <a:prstGeom prst="roundRect">
            <a:avLst>
              <a:gd fmla="val 16667" name="adj"/>
            </a:avLst>
          </a:prstGeom>
          <a:solidFill>
            <a:srgbClr val="FFFFFF"/>
          </a:solidFill>
          <a:ln cap="flat" cmpd="sng" w="13950">
            <a:solidFill>
              <a:srgbClr val="DAE2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3" name="Google Shape;353;h66a306fed6536801_1_44"/>
          <p:cNvSpPr txBox="1"/>
          <p:nvPr/>
        </p:nvSpPr>
        <p:spPr>
          <a:xfrm>
            <a:off x="7566660" y="3104388"/>
            <a:ext cx="457200" cy="411480"/>
          </a:xfrm>
          <a:prstGeom prst="rect">
            <a:avLst/>
          </a:prstGeom>
          <a:noFill/>
          <a:ln>
            <a:noFill/>
          </a:ln>
        </p:spPr>
        <p:txBody>
          <a:bodyPr anchorCtr="0" anchor="ctr" bIns="27425" lIns="27425" spcFirstLastPara="1" rIns="27425" wrap="square" tIns="27425">
            <a:spAutoFit/>
          </a:bodyPr>
          <a:lstStyle/>
          <a:p>
            <a:pPr indent="0" lvl="0" marL="0" marR="0" rtl="0" algn="ctr">
              <a:spcBef>
                <a:spcPts val="0"/>
              </a:spcBef>
              <a:spcAft>
                <a:spcPts val="0"/>
              </a:spcAft>
              <a:buNone/>
            </a:pPr>
            <a:r>
              <a:rPr b="1" i="0" lang="sv-SE" sz="2800" u="none" cap="none" strike="noStrike">
                <a:solidFill>
                  <a:srgbClr val="1B8F80"/>
                </a:solidFill>
                <a:latin typeface="Arial"/>
                <a:ea typeface="Arial"/>
                <a:cs typeface="Arial"/>
                <a:sym typeface="Arial"/>
              </a:rPr>
              <a:t>+</a:t>
            </a:r>
            <a:endParaRPr/>
          </a:p>
        </p:txBody>
      </p:sp>
      <p:sp>
        <p:nvSpPr>
          <p:cNvPr id="354" name="Google Shape;354;h66a306fed6536801_1_44"/>
          <p:cNvSpPr/>
          <p:nvPr/>
        </p:nvSpPr>
        <p:spPr>
          <a:xfrm>
            <a:off x="4160520" y="5166360"/>
            <a:ext cx="7269480" cy="896112"/>
          </a:xfrm>
          <a:prstGeom prst="roundRect">
            <a:avLst>
              <a:gd fmla="val 16667" name="adj"/>
            </a:avLst>
          </a:prstGeom>
          <a:solidFill>
            <a:srgbClr val="15263D"/>
          </a:solidFill>
          <a:ln cap="flat" cmpd="sng" w="12700">
            <a:solidFill>
              <a:srgbClr val="1526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5" name="Google Shape;355;h66a306fed6536801_1_44"/>
          <p:cNvSpPr txBox="1"/>
          <p:nvPr/>
        </p:nvSpPr>
        <p:spPr>
          <a:xfrm>
            <a:off x="4370832" y="5358384"/>
            <a:ext cx="6858000" cy="475488"/>
          </a:xfrm>
          <a:prstGeom prst="rect">
            <a:avLst/>
          </a:prstGeom>
          <a:noFill/>
          <a:ln>
            <a:noFill/>
          </a:ln>
        </p:spPr>
        <p:txBody>
          <a:bodyPr anchorCtr="0" anchor="ctr" bIns="27425" lIns="27425" spcFirstLastPara="1" rIns="27425" wrap="square" tIns="27425">
            <a:spAutoFit/>
          </a:bodyPr>
          <a:lstStyle/>
          <a:p>
            <a:pPr indent="0" lvl="0" marL="0" marR="0" rtl="0" algn="ctr">
              <a:spcBef>
                <a:spcPts val="0"/>
              </a:spcBef>
              <a:spcAft>
                <a:spcPts val="0"/>
              </a:spcAft>
              <a:buNone/>
            </a:pPr>
            <a:r>
              <a:rPr b="1" i="0" lang="sv-SE" sz="1200" u="none" cap="none" strike="noStrike">
                <a:solidFill>
                  <a:srgbClr val="FFFFFF"/>
                </a:solidFill>
                <a:latin typeface="Arial"/>
                <a:ea typeface="Arial"/>
                <a:cs typeface="Arial"/>
                <a:sym typeface="Arial"/>
              </a:rPr>
              <a:t>En träff betyder inte alltid att kompetensen efterfrågas. En roll kan bara nämnas i annonstexten.</a:t>
            </a:r>
            <a:endParaRPr/>
          </a:p>
        </p:txBody>
      </p:sp>
      <p:pic>
        <p:nvPicPr>
          <p:cNvPr id="356" name="Google Shape;356;h66a306fed6536801_1_44"/>
          <p:cNvPicPr preferRelativeResize="0"/>
          <p:nvPr/>
        </p:nvPicPr>
        <p:blipFill rotWithShape="1">
          <a:blip r:embed="rId3">
            <a:alphaModFix/>
          </a:blip>
          <a:srcRect b="0" l="0" r="0" t="0"/>
          <a:stretch/>
        </p:blipFill>
        <p:spPr>
          <a:xfrm>
            <a:off x="4550229" y="1642344"/>
            <a:ext cx="6558425" cy="3188736"/>
          </a:xfrm>
          <a:prstGeom prst="rect">
            <a:avLst/>
          </a:prstGeom>
          <a:noFill/>
          <a:ln>
            <a:noFill/>
          </a:ln>
        </p:spPr>
      </p:pic>
      <p:sp>
        <p:nvSpPr>
          <p:cNvPr id="357" name="Google Shape;357;h66a306fed6536801_1_44"/>
          <p:cNvSpPr txBox="1"/>
          <p:nvPr/>
        </p:nvSpPr>
        <p:spPr>
          <a:xfrm>
            <a:off x="658368" y="6510528"/>
            <a:ext cx="8686800" cy="234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62" name="Shape 362"/>
        <p:cNvGrpSpPr/>
        <p:nvPr/>
      </p:nvGrpSpPr>
      <p:grpSpPr>
        <a:xfrm>
          <a:off x="0" y="0"/>
          <a:ext cx="0" cy="0"/>
          <a:chOff x="0" y="0"/>
          <a:chExt cx="0" cy="0"/>
        </a:xfrm>
      </p:grpSpPr>
      <p:sp>
        <p:nvSpPr>
          <p:cNvPr id="363" name="Google Shape;363;h1601bb5a7bb59382_0_5"/>
          <p:cNvSpPr txBox="1"/>
          <p:nvPr/>
        </p:nvSpPr>
        <p:spPr>
          <a:xfrm>
            <a:off x="658368" y="347472"/>
            <a:ext cx="10881300" cy="2646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000">
                <a:solidFill>
                  <a:srgbClr val="1E8E87"/>
                </a:solidFill>
              </a:rPr>
              <a:t>SLUTSATSER OCH BEGRÄNSNINGAR</a:t>
            </a:r>
            <a:endParaRPr/>
          </a:p>
        </p:txBody>
      </p:sp>
      <p:sp>
        <p:nvSpPr>
          <p:cNvPr id="364" name="Google Shape;364;h1601bb5a7bb59382_0_5"/>
          <p:cNvSpPr txBox="1"/>
          <p:nvPr/>
        </p:nvSpPr>
        <p:spPr>
          <a:xfrm>
            <a:off x="658368" y="704088"/>
            <a:ext cx="10972800" cy="5418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2800">
                <a:solidFill>
                  <a:srgbClr val="14243B"/>
                </a:solidFill>
              </a:rPr>
              <a:t>Bästa lösningen: </a:t>
            </a:r>
            <a:r>
              <a:rPr b="1" lang="sv-SE" sz="2800">
                <a:solidFill>
                  <a:schemeClr val="dk1"/>
                </a:solidFill>
              </a:rPr>
              <a:t>spaCy med EntityRuler</a:t>
            </a:r>
            <a:r>
              <a:rPr b="1" lang="sv-SE" sz="2800">
                <a:solidFill>
                  <a:srgbClr val="14243B"/>
                </a:solidFill>
              </a:rPr>
              <a:t> </a:t>
            </a:r>
            <a:endParaRPr/>
          </a:p>
        </p:txBody>
      </p:sp>
      <p:sp>
        <p:nvSpPr>
          <p:cNvPr id="365" name="Google Shape;365;h1601bb5a7bb59382_0_5"/>
          <p:cNvSpPr txBox="1"/>
          <p:nvPr/>
        </p:nvSpPr>
        <p:spPr>
          <a:xfrm>
            <a:off x="658368" y="6510528"/>
            <a:ext cx="8686800" cy="234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sv-SE" sz="800" u="none" cap="none" strike="noStrike">
                <a:solidFill>
                  <a:srgbClr val="5B6979"/>
                </a:solidFill>
                <a:latin typeface="Arial"/>
                <a:ea typeface="Arial"/>
                <a:cs typeface="Arial"/>
                <a:sym typeface="Arial"/>
              </a:rPr>
              <a:t>KOMPETENSTRENDER INOM SVENSK IT</a:t>
            </a:r>
            <a:endParaRPr/>
          </a:p>
        </p:txBody>
      </p:sp>
      <p:sp>
        <p:nvSpPr>
          <p:cNvPr id="366" name="Google Shape;366;h1601bb5a7bb59382_0_5"/>
          <p:cNvSpPr txBox="1"/>
          <p:nvPr/>
        </p:nvSpPr>
        <p:spPr>
          <a:xfrm>
            <a:off x="685800" y="1307592"/>
            <a:ext cx="10789800" cy="3264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t/>
            </a:r>
            <a:endParaRPr/>
          </a:p>
        </p:txBody>
      </p:sp>
      <p:sp>
        <p:nvSpPr>
          <p:cNvPr id="367" name="Google Shape;367;h1601bb5a7bb59382_0_5"/>
          <p:cNvSpPr/>
          <p:nvPr/>
        </p:nvSpPr>
        <p:spPr>
          <a:xfrm>
            <a:off x="658375" y="3648500"/>
            <a:ext cx="3456300" cy="2199600"/>
          </a:xfrm>
          <a:prstGeom prst="roundRect">
            <a:avLst>
              <a:gd fmla="val 16667"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8" name="Google Shape;368;h1601bb5a7bb59382_0_5"/>
          <p:cNvSpPr/>
          <p:nvPr/>
        </p:nvSpPr>
        <p:spPr>
          <a:xfrm>
            <a:off x="658375" y="3758225"/>
            <a:ext cx="63900" cy="1956000"/>
          </a:xfrm>
          <a:prstGeom prst="rect">
            <a:avLst/>
          </a:prstGeom>
          <a:solidFill>
            <a:srgbClr val="BE4D4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9" name="Google Shape;369;h1601bb5a7bb59382_0_5"/>
          <p:cNvSpPr txBox="1"/>
          <p:nvPr/>
        </p:nvSpPr>
        <p:spPr>
          <a:xfrm>
            <a:off x="859536" y="3813090"/>
            <a:ext cx="30906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14243B"/>
                </a:solidFill>
              </a:rPr>
              <a:t>Viktigaste begränsningar</a:t>
            </a:r>
            <a:endParaRPr/>
          </a:p>
        </p:txBody>
      </p:sp>
      <p:sp>
        <p:nvSpPr>
          <p:cNvPr id="370" name="Google Shape;370;h1601bb5a7bb59382_0_5"/>
          <p:cNvSpPr txBox="1"/>
          <p:nvPr/>
        </p:nvSpPr>
        <p:spPr>
          <a:xfrm>
            <a:off x="859536" y="4242858"/>
            <a:ext cx="3090600" cy="1479300"/>
          </a:xfrm>
          <a:prstGeom prst="rect">
            <a:avLst/>
          </a:prstGeom>
          <a:noFill/>
          <a:ln>
            <a:noFill/>
          </a:ln>
        </p:spPr>
        <p:txBody>
          <a:bodyPr anchorCtr="0" anchor="t" bIns="54850" lIns="54850" spcFirstLastPara="1" rIns="54850" wrap="square" tIns="54850">
            <a:spAutoFit/>
          </a:bodyPr>
          <a:lstStyle/>
          <a:p>
            <a:pPr indent="-317500" lvl="0" marL="457200" marR="0" rtl="0" algn="l">
              <a:lnSpc>
                <a:spcPct val="115000"/>
              </a:lnSpc>
              <a:spcBef>
                <a:spcPts val="0"/>
              </a:spcBef>
              <a:spcAft>
                <a:spcPts val="0"/>
              </a:spcAft>
              <a:buSzPts val="1400"/>
              <a:buChar char="●"/>
            </a:pPr>
            <a:r>
              <a:rPr lang="sv-SE" sz="1300">
                <a:solidFill>
                  <a:srgbClr val="283340"/>
                </a:solidFill>
              </a:rPr>
              <a:t>Bara Platsbanken, SSYK 2511, januari till augusti</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36% engelska annonser uteslutna</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116 av 290 kompetenser matchade aldrig</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Facit: en </a:t>
            </a:r>
            <a:r>
              <a:rPr lang="sv-SE" sz="1300">
                <a:solidFill>
                  <a:srgbClr val="283340"/>
                </a:solidFill>
              </a:rPr>
              <a:t>annotator</a:t>
            </a:r>
            <a:r>
              <a:rPr lang="sv-SE" sz="1300">
                <a:solidFill>
                  <a:srgbClr val="283340"/>
                </a:solidFill>
              </a:rPr>
              <a:t>, 192 annonser</a:t>
            </a:r>
            <a:endParaRPr sz="1300">
              <a:solidFill>
                <a:srgbClr val="283340"/>
              </a:solidFill>
            </a:endParaRPr>
          </a:p>
        </p:txBody>
      </p:sp>
      <p:sp>
        <p:nvSpPr>
          <p:cNvPr id="371" name="Google Shape;371;h1601bb5a7bb59382_0_5"/>
          <p:cNvSpPr/>
          <p:nvPr/>
        </p:nvSpPr>
        <p:spPr>
          <a:xfrm>
            <a:off x="4361700" y="3648500"/>
            <a:ext cx="3456300" cy="2199600"/>
          </a:xfrm>
          <a:prstGeom prst="roundRect">
            <a:avLst>
              <a:gd fmla="val 16667"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2" name="Google Shape;372;h1601bb5a7bb59382_0_5"/>
          <p:cNvSpPr/>
          <p:nvPr/>
        </p:nvSpPr>
        <p:spPr>
          <a:xfrm>
            <a:off x="4361706" y="3758225"/>
            <a:ext cx="63900" cy="1956000"/>
          </a:xfrm>
          <a:prstGeom prst="rect">
            <a:avLst/>
          </a:prstGeom>
          <a:solidFill>
            <a:srgbClr val="F4B8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3" name="Google Shape;373;h1601bb5a7bb59382_0_5"/>
          <p:cNvSpPr txBox="1"/>
          <p:nvPr/>
        </p:nvSpPr>
        <p:spPr>
          <a:xfrm>
            <a:off x="4562855" y="3813090"/>
            <a:ext cx="30906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14243B"/>
                </a:solidFill>
              </a:rPr>
              <a:t>Använd inte resultatet som</a:t>
            </a:r>
            <a:endParaRPr/>
          </a:p>
        </p:txBody>
      </p:sp>
      <p:sp>
        <p:nvSpPr>
          <p:cNvPr id="374" name="Google Shape;374;h1601bb5a7bb59382_0_5"/>
          <p:cNvSpPr txBox="1"/>
          <p:nvPr/>
        </p:nvSpPr>
        <p:spPr>
          <a:xfrm>
            <a:off x="4562855" y="4242858"/>
            <a:ext cx="3090600" cy="1249200"/>
          </a:xfrm>
          <a:prstGeom prst="rect">
            <a:avLst/>
          </a:prstGeom>
          <a:noFill/>
          <a:ln>
            <a:noFill/>
          </a:ln>
        </p:spPr>
        <p:txBody>
          <a:bodyPr anchorCtr="0" anchor="t" bIns="54850" lIns="54850" spcFirstLastPara="1" rIns="54850" wrap="square" tIns="54850">
            <a:spAutoFit/>
          </a:bodyPr>
          <a:lstStyle/>
          <a:p>
            <a:pPr indent="-317500" lvl="0" marL="457200" marR="0" rtl="0" algn="l">
              <a:lnSpc>
                <a:spcPct val="115000"/>
              </a:lnSpc>
              <a:spcBef>
                <a:spcPts val="0"/>
              </a:spcBef>
              <a:spcAft>
                <a:spcPts val="0"/>
              </a:spcAft>
              <a:buSzPts val="1400"/>
              <a:buChar char="●"/>
            </a:pPr>
            <a:r>
              <a:rPr lang="sv-SE" sz="1300">
                <a:solidFill>
                  <a:srgbClr val="283340"/>
                </a:solidFill>
              </a:rPr>
              <a:t>Bild av hela arbetsmarknaden</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Bevis för vad som krävs, vi mäter omnämnanden</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Bevis för att en kompetens inte efterfrågas</a:t>
            </a:r>
            <a:endParaRPr sz="1300">
              <a:solidFill>
                <a:srgbClr val="283340"/>
              </a:solidFill>
            </a:endParaRPr>
          </a:p>
        </p:txBody>
      </p:sp>
      <p:sp>
        <p:nvSpPr>
          <p:cNvPr id="375" name="Google Shape;375;h1601bb5a7bb59382_0_5"/>
          <p:cNvSpPr/>
          <p:nvPr/>
        </p:nvSpPr>
        <p:spPr>
          <a:xfrm>
            <a:off x="8065000" y="3648500"/>
            <a:ext cx="3456300" cy="2199600"/>
          </a:xfrm>
          <a:prstGeom prst="roundRect">
            <a:avLst>
              <a:gd fmla="val 16667"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6" name="Google Shape;376;h1601bb5a7bb59382_0_5"/>
          <p:cNvSpPr/>
          <p:nvPr/>
        </p:nvSpPr>
        <p:spPr>
          <a:xfrm>
            <a:off x="8065001" y="3758225"/>
            <a:ext cx="63900" cy="1956000"/>
          </a:xfrm>
          <a:prstGeom prst="rect">
            <a:avLst/>
          </a:prstGeom>
          <a:solidFill>
            <a:srgbClr val="36639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7" name="Google Shape;377;h1601bb5a7bb59382_0_5"/>
          <p:cNvSpPr txBox="1"/>
          <p:nvPr/>
        </p:nvSpPr>
        <p:spPr>
          <a:xfrm>
            <a:off x="8266176" y="3813090"/>
            <a:ext cx="3090600" cy="3570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600">
                <a:solidFill>
                  <a:srgbClr val="14243B"/>
                </a:solidFill>
              </a:rPr>
              <a:t>Nästa steg</a:t>
            </a:r>
            <a:endParaRPr/>
          </a:p>
        </p:txBody>
      </p:sp>
      <p:sp>
        <p:nvSpPr>
          <p:cNvPr id="378" name="Google Shape;378;h1601bb5a7bb59382_0_5"/>
          <p:cNvSpPr txBox="1"/>
          <p:nvPr/>
        </p:nvSpPr>
        <p:spPr>
          <a:xfrm>
            <a:off x="8266176" y="4242858"/>
            <a:ext cx="3090600" cy="1231500"/>
          </a:xfrm>
          <a:prstGeom prst="rect">
            <a:avLst/>
          </a:prstGeom>
          <a:noFill/>
          <a:ln>
            <a:noFill/>
          </a:ln>
        </p:spPr>
        <p:txBody>
          <a:bodyPr anchorCtr="0" anchor="t" bIns="54850" lIns="54850" spcFirstLastPara="1" rIns="54850" wrap="square" tIns="54850">
            <a:spAutoFit/>
          </a:bodyPr>
          <a:lstStyle/>
          <a:p>
            <a:pPr indent="-311150" lvl="0" marL="457200" marR="0" rtl="0" algn="l">
              <a:lnSpc>
                <a:spcPct val="115000"/>
              </a:lnSpc>
              <a:spcBef>
                <a:spcPts val="0"/>
              </a:spcBef>
              <a:spcAft>
                <a:spcPts val="0"/>
              </a:spcAft>
              <a:buClr>
                <a:srgbClr val="283340"/>
              </a:buClr>
              <a:buSzPts val="1300"/>
              <a:buFont typeface="Arial"/>
              <a:buChar char="●"/>
            </a:pPr>
            <a:r>
              <a:rPr lang="sv-SE" sz="1300">
                <a:solidFill>
                  <a:srgbClr val="283340"/>
                </a:solidFill>
              </a:rPr>
              <a:t>Förbättra mätningen</a:t>
            </a:r>
            <a:endParaRPr sz="1300">
              <a:solidFill>
                <a:srgbClr val="283340"/>
              </a:solidFill>
            </a:endParaRPr>
          </a:p>
          <a:p>
            <a:pPr indent="-311150" lvl="0" marL="457200" marR="0" rtl="0" algn="l">
              <a:lnSpc>
                <a:spcPct val="115000"/>
              </a:lnSpc>
              <a:spcBef>
                <a:spcPts val="0"/>
              </a:spcBef>
              <a:spcAft>
                <a:spcPts val="0"/>
              </a:spcAft>
              <a:buClr>
                <a:srgbClr val="283340"/>
              </a:buClr>
              <a:buSzPts val="1300"/>
              <a:buFont typeface="Arial"/>
              <a:buChar char="●"/>
            </a:pPr>
            <a:r>
              <a:rPr lang="sv-SE" sz="1300">
                <a:solidFill>
                  <a:srgbClr val="283340"/>
                </a:solidFill>
              </a:rPr>
              <a:t>Utveckla regler, lägga till mjuka kompetenser</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Inkludera annonser på engelska</a:t>
            </a:r>
            <a:endParaRPr sz="1300">
              <a:solidFill>
                <a:srgbClr val="283340"/>
              </a:solidFill>
            </a:endParaRPr>
          </a:p>
          <a:p>
            <a:pPr indent="-311150" lvl="0" marL="457200" marR="0" rtl="0" algn="l">
              <a:lnSpc>
                <a:spcPct val="115000"/>
              </a:lnSpc>
              <a:spcBef>
                <a:spcPts val="0"/>
              </a:spcBef>
              <a:spcAft>
                <a:spcPts val="0"/>
              </a:spcAft>
              <a:buClr>
                <a:srgbClr val="283340"/>
              </a:buClr>
              <a:buSzPts val="1300"/>
              <a:buChar char="●"/>
            </a:pPr>
            <a:r>
              <a:rPr lang="sv-SE" sz="1300">
                <a:solidFill>
                  <a:srgbClr val="283340"/>
                </a:solidFill>
              </a:rPr>
              <a:t>Gör analysen på fler yrkesgrupper</a:t>
            </a:r>
            <a:endParaRPr sz="1300">
              <a:solidFill>
                <a:srgbClr val="283340"/>
              </a:solidFill>
            </a:endParaRPr>
          </a:p>
        </p:txBody>
      </p:sp>
      <p:sp>
        <p:nvSpPr>
          <p:cNvPr id="379" name="Google Shape;379;h1601bb5a7bb59382_0_5"/>
          <p:cNvSpPr/>
          <p:nvPr/>
        </p:nvSpPr>
        <p:spPr>
          <a:xfrm>
            <a:off x="713268" y="1845833"/>
            <a:ext cx="10863000" cy="1417200"/>
          </a:xfrm>
          <a:prstGeom prst="roundRect">
            <a:avLst>
              <a:gd fmla="val 16667" name="adj"/>
            </a:avLst>
          </a:prstGeom>
          <a:solidFill>
            <a:srgbClr val="FFFFFF"/>
          </a:solidFill>
          <a:ln cap="flat" cmpd="sng" w="9525">
            <a:solidFill>
              <a:srgbClr val="DDE5E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0" name="Google Shape;380;h1601bb5a7bb59382_0_5"/>
          <p:cNvSpPr txBox="1"/>
          <p:nvPr/>
        </p:nvSpPr>
        <p:spPr>
          <a:xfrm>
            <a:off x="969300" y="2074433"/>
            <a:ext cx="2148900" cy="2646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sv-SE" sz="1000">
                <a:solidFill>
                  <a:srgbClr val="BE4D4D"/>
                </a:solidFill>
              </a:rPr>
              <a:t>VI REKOMMENDERAR</a:t>
            </a:r>
            <a:endParaRPr/>
          </a:p>
        </p:txBody>
      </p:sp>
      <p:sp>
        <p:nvSpPr>
          <p:cNvPr id="381" name="Google Shape;381;h1601bb5a7bb59382_0_5"/>
          <p:cNvSpPr txBox="1"/>
          <p:nvPr/>
        </p:nvSpPr>
        <p:spPr>
          <a:xfrm>
            <a:off x="3118140" y="2010425"/>
            <a:ext cx="7909500" cy="972900"/>
          </a:xfrm>
          <a:prstGeom prst="rect">
            <a:avLst/>
          </a:prstGeom>
          <a:noFill/>
          <a:ln>
            <a:noFill/>
          </a:ln>
        </p:spPr>
        <p:txBody>
          <a:bodyPr anchorCtr="0" anchor="t" bIns="54850" lIns="54850" spcFirstLastPara="1" rIns="54850" wrap="square" tIns="54850">
            <a:spAutoFit/>
          </a:bodyPr>
          <a:lstStyle/>
          <a:p>
            <a:pPr indent="-317500" lvl="0" marL="457200" marR="0" rtl="0" algn="l">
              <a:lnSpc>
                <a:spcPct val="150000"/>
              </a:lnSpc>
              <a:spcBef>
                <a:spcPts val="0"/>
              </a:spcBef>
              <a:spcAft>
                <a:spcPts val="0"/>
              </a:spcAft>
              <a:buClr>
                <a:srgbClr val="283340"/>
              </a:buClr>
              <a:buSzPts val="1400"/>
              <a:buChar char="●"/>
            </a:pPr>
            <a:r>
              <a:rPr lang="sv-SE">
                <a:solidFill>
                  <a:srgbClr val="283340"/>
                </a:solidFill>
              </a:rPr>
              <a:t>EntityRuler med egna regler</a:t>
            </a:r>
            <a:endParaRPr>
              <a:solidFill>
                <a:srgbClr val="283340"/>
              </a:solidFill>
            </a:endParaRPr>
          </a:p>
          <a:p>
            <a:pPr indent="-317500" lvl="0" marL="457200" marR="0" rtl="0" algn="l">
              <a:lnSpc>
                <a:spcPct val="150000"/>
              </a:lnSpc>
              <a:spcBef>
                <a:spcPts val="0"/>
              </a:spcBef>
              <a:spcAft>
                <a:spcPts val="0"/>
              </a:spcAft>
              <a:buClr>
                <a:srgbClr val="283340"/>
              </a:buClr>
              <a:buSzPts val="1400"/>
              <a:buChar char="●"/>
            </a:pPr>
            <a:r>
              <a:rPr lang="sv-SE">
                <a:solidFill>
                  <a:srgbClr val="283340"/>
                </a:solidFill>
              </a:rPr>
              <a:t>Hittar fler kompetenser än baseline (recall 0.21 mot 0.02)</a:t>
            </a:r>
            <a:endParaRPr>
              <a:solidFill>
                <a:srgbClr val="283340"/>
              </a:solidFill>
            </a:endParaRPr>
          </a:p>
          <a:p>
            <a:pPr indent="-317500" lvl="0" marL="457200" marR="0" rtl="0" algn="l">
              <a:lnSpc>
                <a:spcPct val="150000"/>
              </a:lnSpc>
              <a:spcBef>
                <a:spcPts val="0"/>
              </a:spcBef>
              <a:spcAft>
                <a:spcPts val="0"/>
              </a:spcAft>
              <a:buClr>
                <a:srgbClr val="283340"/>
              </a:buClr>
              <a:buSzPts val="1400"/>
              <a:buChar char="●"/>
            </a:pPr>
            <a:r>
              <a:rPr lang="sv-SE">
                <a:solidFill>
                  <a:srgbClr val="283340"/>
                </a:solidFill>
              </a:rPr>
              <a:t>Varje träff kan spåras till en regel</a:t>
            </a:r>
            <a:endParaRPr>
              <a:solidFill>
                <a:srgbClr val="28334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2026-10-16T12:00:24Z</dcterms:created>
  <dc:creator>Linnéa Moreira Emanuelsson</dc:creator>
</cp:coreProperties>
</file>